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3619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4825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238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8444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0857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270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6889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2921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5334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7747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28953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102412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53619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04825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56032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07238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58444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09651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0857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12064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3270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4476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20040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EC2C7"/>
                </a:solidFill>
                <a:latin typeface="Cambria Math"/>
              </a:rPr>
              <a:t>∫ f(x) · dx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1828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eⁿᵗ − m g(x)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20040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P = {xᵢ} + (xᵢ − x̄)²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960120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A = [ a₁  b₂ ; c₃  d₄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" y="5349240"/>
            <a:ext cx="2194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R₀ = m eᵞ (μ₂ /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264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y = (x + 1)ⁿ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440680"/>
            <a:ext cx="1920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EC2C7"/>
                </a:solidFill>
                <a:latin typeface="Cambria Math"/>
              </a:rPr>
              <a:t>n = −√(2x²)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61264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sin(x) = kπ / 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59552" y="256032"/>
            <a:ext cx="118872" cy="118872"/>
          </a:xfrm>
          <a:prstGeom prst="roundRect">
            <a:avLst/>
          </a:prstGeom>
          <a:solidFill>
            <a:srgbClr val="BE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24144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559552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24144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88736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9552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24144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559552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724144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88736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932688"/>
            <a:ext cx="242316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INSTITUTO
FEDERAL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1353312"/>
            <a:ext cx="24231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1414"/>
                </a:solidFill>
                <a:latin typeface="Arial"/>
              </a:rPr>
              <a:t>Catarinense</a:t>
            </a:r>
          </a:p>
        </p:txBody>
      </p:sp>
      <p:sp>
        <p:nvSpPr>
          <p:cNvPr id="61" name="tcc-title"/>
          <p:cNvSpPr txBox="1"/>
          <p:nvPr/>
        </p:nvSpPr>
        <p:spPr>
          <a:xfrm>
            <a:off x="594360" y="1828800"/>
            <a:ext cx="1101852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B566C"/>
                </a:solidFill>
                <a:latin typeface="Arial"/>
              </a:rPr>
              <a:t>Ensino Personalizado de Matemática:
Oportunidades e Técnicas Computacionais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3182112"/>
            <a:ext cx="97383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0B566C"/>
                </a:solidFill>
                <a:latin typeface="Arial"/>
              </a:rPr>
              <a:t>Revisão sistemática da literatura e especificação conceitual de protótipo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069080"/>
            <a:ext cx="48920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41414"/>
                </a:solidFill>
                <a:latin typeface="Arial"/>
              </a:rPr>
              <a:t>Thales Ferreira Batista
Ciência da Computação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892040"/>
            <a:ext cx="61722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41414"/>
                </a:solidFill>
                <a:latin typeface="Arial"/>
              </a:rPr>
              <a:t>Orientador: Prof. Dr. Rafael Zanin
Coorientador: Prof. Dr. Manassés Ribeiro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806440"/>
            <a:ext cx="809244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373737"/>
                </a:solidFill>
                <a:latin typeface="Arial"/>
              </a:rPr>
              <a:t>Instituto Federal Catarinense — Campus Videira
Revisão atualizada: 14/10/2026 · corte da busca: 31/08/2026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rial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943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Conhecimentos prévios, ritmos e dificuldades variam entre estudantes e ao longo do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5943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Oportunidade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Técnicas computacionais podem organizar registros, revelar padrões e apoiar o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011680"/>
            <a:ext cx="5943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Responsabilidade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rial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Questão e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5836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6309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Problema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630936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Como estruturar uma especificação técnica e pedagógica de protótipo para apoiar a interpretação docente da aprendizagem matemática a partir das evidências e técnicas computacionais identificadas na literatura?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143000"/>
            <a:ext cx="39319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43000"/>
            <a:ext cx="5943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197864"/>
            <a:ext cx="3657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600200"/>
            <a:ext cx="365760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Propor uma especificação técnica e pedagógica de protótipo para apoiar a interpretação docente da aprendizagem matemática, fundamentada no mapeamento e na análise da literatura científica.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Perguntas orientadoras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Categorizar técnicas computacionais e finalidades pedagógicas na literatura mapeada.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3756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Identificar limitações e lacunas técnicas, pedagógicas, metodológicas e éticas.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Formular requisitos, critérios de dados e modelos e arquitetura de referência para o protótipo.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33756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Propor um protocolo para avaliação futura dos aspectos técnicos e de adequação pedagógica.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69280"/>
            <a:ext cx="102870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Revisão, MMAT preliminar e pipeline são meios metodológicos. Propor o protocolo não equivale a executá-lo nem comprova eficácia pedagógica.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 base conceitual: quatro níveis de interpretação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4519"/>
            <a:ext cx="5943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Desempenho
observado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Registro de uma tarefa: acerto, nota, tentativa, estratégia ou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11296" y="1874519"/>
            <a:ext cx="5943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Proficiência
estimada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Inferência sobre uma escala de conhecimentos e habilidades.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874519"/>
            <a:ext cx="5943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Competência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Mobilização de conhecimentos, habilidades, atitudes e valores para resolver demandas.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7152" y="1874519"/>
            <a:ext cx="5943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Aprendizagem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Neste TCC: mudanças no que o estudante sabe e consegue fazer ao longo do tempo.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Desenho metodológico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097280"/>
            <a:ext cx="5943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PRISMA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Diretriz de relato transparente da revisão.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192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1928" y="1097280"/>
            <a:ext cx="5943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População, intervenção, comparação, resultados e desenho.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31720"/>
            <a:ext cx="5943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4 fontes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Semantic Scholar, OpenAlex, Crossref e CORE.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31720"/>
            <a:ext cx="5943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Escopo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Inglês/português · 2015–2026 · corte em 31/08/2026.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Estratégia canônica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rial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Do registro bruto ao conjunto retido provisoriamente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Contagens do recorte versionado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40"/>
            <a:ext cx="182880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identificados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463040"/>
            <a:ext cx="182880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remoções por identidade
25 DOI + 2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0" y="1463040"/>
            <a:ext cx="1828800" cy="50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11.877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na triagem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1463040"/>
            <a:ext cx="182880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9.391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triagem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3794760"/>
            <a:ext cx="182880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submetidos à priorização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3794760"/>
            <a:ext cx="182880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nessa etapa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182880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retidos operacionalmente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A priorização dos 2.486 registros usa metadados/resumos e não equivale à elegibilidade em texto completo; títulos repetidos seguem para auditoria semântica.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operacional do processo de seleção</a:t>
            </a:r>
          </a:p>
        </p:txBody>
      </p:sp>
      <p:pic>
        <p:nvPicPr>
          <p:cNvPr id="3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660" y="96012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Representação operacional própria; não reproduz todas as etapas do diagrama PRISMA 2020.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Deduplicação: o que foi confirmado</a:t>
            </a:r>
          </a:p>
        </p:txBody>
      </p:sp>
      <p:pic>
        <p:nvPicPr>
          <p:cNvPr id="3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50666"/>
            <a:ext cx="5623560" cy="37395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123444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37960" y="123444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28930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Confirmadas no fluxo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69164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27 linhas excedentes por identidade bibliográfica determinística: 25 DOI normalizado e 2 URL exata.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69748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697480"/>
            <a:ext cx="5943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75234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Mantidas para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15468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232 excedentes apenas por título normalizado permaneceram como candidatos a revisão semântica.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160520"/>
            <a:ext cx="47548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4160520"/>
            <a:ext cx="5943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1538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Leitura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617720"/>
            <a:ext cx="448056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Panorama descritivo do recorte versionado</a:t>
            </a:r>
          </a:p>
        </p:txBody>
      </p:sp>
      <p:pic>
        <p:nvPicPr>
          <p:cNvPr id="3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Frequências mais recorrentes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9164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691640"/>
            <a:ext cx="301752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1051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6.399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técnica não especificada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9748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2697480"/>
            <a:ext cx="301752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1635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1.073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70332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30175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2219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IA / inteligência 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70916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709160"/>
            <a:ext cx="3017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82803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771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machine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As categorias podem se sobrepor e são calculadas sobre os 11.877 registros após a remoção determinística.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Distribuição temporal e fontes</a:t>
            </a:r>
          </a:p>
        </p:txBody>
      </p:sp>
      <p:pic>
        <p:nvPicPr>
          <p:cNvPr id="3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76227"/>
            <a:ext cx="5486400" cy="2202425"/>
          </a:xfrm>
          <a:prstGeom prst="rect">
            <a:avLst/>
          </a:prstGeom>
        </p:spPr>
      </p:pic>
      <p:pic>
        <p:nvPicPr>
          <p:cNvPr id="4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460" y="1143000"/>
            <a:ext cx="3455879" cy="2468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3977639"/>
            <a:ext cx="5166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943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Período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34839"/>
            <a:ext cx="489204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O recorte foi delimitado a 2015–2026, com data de corte em 31 de agosto de 2026. Como 2026 é parcial, sua barra não deve ser comparada diretamente com anos completos.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977639"/>
            <a:ext cx="5074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3977639"/>
            <a:ext cx="5943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032503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434839"/>
            <a:ext cx="480060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As quatro fontes foram complementares; os totais brutos incluem registros posteriormente reconhecidos como duplicatas.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Conjunto retido e síntese empírica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9260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retidos operacionalmente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292608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empíricos mantidos provisoriamente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234440"/>
            <a:ext cx="292608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texto integral pendente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5943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Desfecho da seleção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Dos 18 registros selecionados preliminarmente, um foi excluído após o resumo. Dos 17 relatórios procurados, um não foi recuperado e 16 foram avaliados em texto completo; um protocolo sem resultados concluídos foi excluído após essa avaliação e 15 registros empíricos permanecem provisoriamente no núcleo. O estudo 8 aguarda adjudicação de elegibilidade e unidade de análise; o relatório não recuperado não recebeu MMAT.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5943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Padrão observado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Predomínio de aplicações voltadas à predição de desempenho e à estimativa de proficiência, com recorrência de modelos supervisionados como Random Forest, SVM, árvores de decisão e redes neurais.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rial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Apreciação metodológica pelo MMAT 2018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MMAT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rial"/>
              </a:rPr>
              <a:t>avaliação por critério
sem nota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rial"/>
              </a:rPr>
              <a:t>Instrumento aplicado conforme o desenho metodológico de cada estudo empírico.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3520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197864"/>
            <a:ext cx="32461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Como foi registrado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00200"/>
            <a:ext cx="324612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4290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9786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Estado atual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00200"/>
            <a:ext cx="31546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MMAT preliminar em 14 dos 15 registros empíricos mantidos provisoriamente, por revisor único. O estudo 8 está sem respostas até adjudicação da elegibilidade/unidade; um texto não recuperado também não recebeu MMAT. Um registro foi excluído após resumo e um protocolo após texto completo.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063240"/>
            <a:ext cx="73152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306324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118104"/>
            <a:ext cx="70408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 que não foi 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70408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que a síntese sustenta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943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 literatura oferece um mapa auditável de técnicas, finalidades e formas de avaliação aplicadas à educação matemática.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heterogeneidade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não sustenta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3756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Implicação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Limitações localizadas nos estudos consultados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097280"/>
            <a:ext cx="59436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He et al. (2025)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turmas de 45 estudantes são descritas, mas a amostra declarada é n=90; docentes também se distribuem de modo desigual entre condições (pp. 1, 16, 31–35). Isso exige cautela com denominadores e possível confundimento.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097280"/>
            <a:ext cx="59436" cy="1737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Villegas-Ch et al. (2025)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Os métodos descrevem seis semanas, mas os resultados chegam à oitava, sem conciliação nos trechos consultados (pp. 14, 22). Não se deve impor duração única à síntese.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063239"/>
            <a:ext cx="59436" cy="1737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Nyantah et al. (2025)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A alocação é descrita de modo incompatível; há diferença no pré-teste e a intervenção combina animação e jigsaw (pp. 101–105). O resultado não deve ser atribuído à animação isoladamente.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063239"/>
            <a:ext cx="59436" cy="1737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Echeveria et al. (2025)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itens usados para formar categorias também aparecem entre os preditores selecionados (pp. 66, 69–70). A classificação não estabelece diagnóstico independente.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74920"/>
            <a:ext cx="1056132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334155"/>
                </a:solidFill>
                <a:latin typeface="Arial"/>
              </a:rPr>
              <a:t>Estes exemplos localizados não estimam a frequência da literatura. Quinze registros permanecem provisoriamente no núcleo; o MMAT preliminar abrange 14, e o estudo 8 segue sem respostas até adjudicação da unidade. Um relatório não recuperado não recebeu MMAT; um registro foi excluído após resumo e um protocolo após texto completo.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Da evidência à especificação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74519"/>
            <a:ext cx="5943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revisão + fundamentação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1874519"/>
            <a:ext cx="5943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Lacunas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1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técnicas, pedagógicas, metodológicas e éticas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5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59" y="1874519"/>
            <a:ext cx="5943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3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Requisitos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3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funcionais e não funcionais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874519"/>
            <a:ext cx="5943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Protocolo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dados, modelos, métricas e limites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874519"/>
            <a:ext cx="5943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Arquitetura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referência conceitual auditável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O resultado é uma especificação conceitual: documentada, verificável e coerente com o escopo executado.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Especificação conceitual do protótipo</a:t>
            </a:r>
          </a:p>
        </p:txBody>
      </p:sp>
      <p:pic>
        <p:nvPicPr>
          <p:cNvPr id="3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Componentes previstos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apresentação para interpretação docente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4251960"/>
            <a:ext cx="45720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4251960"/>
            <a:ext cx="5943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4306824"/>
            <a:ext cx="4297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Limite do artefato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709160"/>
            <a:ext cx="429768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Contribuições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5943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Contribuições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5943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Limites assumidos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um único pesquisador
• um texto integral pendente, sem MMAT
• fontes e idiomas delimitados
• MMAT preliminar em 14 de 15 inclusões provisórias; estudo 8 sem avaliação
• sem aplicação funcional ou eficácia pedagógica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rial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rial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Thales Ferreira Batista · Ciência da Computação · IFC Videira
Revisão atualizada: 14/10/2026 · corte da busca: 31/08/2026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