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1206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2412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3619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4825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7238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58444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9651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0857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3270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4476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5683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6889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8096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9302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0508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1715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72921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24128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75334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26540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77747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228953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512064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1024128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1536192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2048256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2560320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3072384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3584448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4096512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4608576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5120640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5632704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144768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656832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" y="320040"/>
            <a:ext cx="1737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0">
                <a:solidFill>
                  <a:srgbClr val="BEC2C7"/>
                </a:solidFill>
                <a:latin typeface="Cambria Math"/>
              </a:rPr>
              <a:t>∫ f(x) · dx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40280" y="182880"/>
            <a:ext cx="16459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BEC2C7"/>
                </a:solidFill>
                <a:latin typeface="Cambria Math"/>
              </a:rPr>
              <a:t>eⁿᵗ − m g(x)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9640" y="320040"/>
            <a:ext cx="30175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BEC2C7"/>
                </a:solidFill>
                <a:latin typeface="Cambria Math"/>
              </a:rPr>
              <a:t>P = {xᵢ} + (xᵢ − x̄)²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35440" y="960120"/>
            <a:ext cx="219456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A = [ a₁  b₂ ; c₃  d₄ ]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8600" y="5349240"/>
            <a:ext cx="21945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R₀ = m eᵞ (μ₂ /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6126480"/>
            <a:ext cx="16459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y = (x + 1)ⁿ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55480" y="5440680"/>
            <a:ext cx="192024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BEC2C7"/>
                </a:solidFill>
                <a:latin typeface="Cambria Math"/>
              </a:rPr>
              <a:t>n = −√(2x²)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98280" y="6126480"/>
            <a:ext cx="20116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sin(x) = kπ / 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559552" y="256032"/>
            <a:ext cx="118872" cy="118872"/>
          </a:xfrm>
          <a:prstGeom prst="roundRect">
            <a:avLst/>
          </a:prstGeom>
          <a:solidFill>
            <a:srgbClr val="BE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724144" y="256032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888736" y="256032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559552" y="420624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724144" y="420624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888736" y="420624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559552" y="585216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724144" y="585216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888736" y="585216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559552" y="749808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724144" y="749808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888736" y="749808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892040" y="932688"/>
            <a:ext cx="2423160" cy="42062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INSTITUTO
FEDERAL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92040" y="1353312"/>
            <a:ext cx="242316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41414"/>
                </a:solidFill>
                <a:latin typeface="Arial"/>
              </a:rPr>
              <a:t>Catarinense</a:t>
            </a:r>
          </a:p>
        </p:txBody>
      </p:sp>
      <p:sp>
        <p:nvSpPr>
          <p:cNvPr id="61" name="tcc-title"/>
          <p:cNvSpPr txBox="1"/>
          <p:nvPr/>
        </p:nvSpPr>
        <p:spPr>
          <a:xfrm>
            <a:off x="594360" y="1828800"/>
            <a:ext cx="11018520" cy="10515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200" b="1">
                <a:solidFill>
                  <a:srgbClr val="0B566C"/>
                </a:solidFill>
                <a:latin typeface="Arial"/>
              </a:rPr>
              <a:t>Ensino Personalizado de Matemática:
Oportunidades e Técnicas Computacionais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34440" y="3182112"/>
            <a:ext cx="973836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>
                <a:solidFill>
                  <a:srgbClr val="0B566C"/>
                </a:solidFill>
                <a:latin typeface="Arial"/>
              </a:rPr>
              <a:t>Revisão sistemática da literatura e especificação conceitual de protótipo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0" y="4069080"/>
            <a:ext cx="489204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>
                <a:solidFill>
                  <a:srgbClr val="141414"/>
                </a:solidFill>
                <a:latin typeface="Arial"/>
              </a:rPr>
              <a:t>Thales Ferreira Batista
Ciência da Computação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017520" y="4892040"/>
            <a:ext cx="617220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141414"/>
                </a:solidFill>
                <a:latin typeface="Arial"/>
              </a:rPr>
              <a:t>Orientador: Prof. Dr. Rafael Zanin
Coorientador: Prof. Dr. Manassés Ribeiro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057400" y="5806440"/>
            <a:ext cx="809244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373737"/>
                </a:solidFill>
                <a:latin typeface="Arial"/>
              </a:rPr>
              <a:t>Instituto Federal Catarinense — Campus Videira
Revisão atualizada: 14/10/2026 · corte da busca: 31/08/2026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O problema de pesquisa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83564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0F172A"/>
                </a:solidFill>
                <a:latin typeface="Arial"/>
              </a:rPr>
              <a:t>Turmas heterogêneas produzem muitas evidências, mas a evidência só se torna útil quando é interpretada no contexto pedagógico.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011680"/>
            <a:ext cx="34290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2011680"/>
            <a:ext cx="59436" cy="1554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6654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Contexto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3154680" cy="103327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Conhecimentos prévios, ritmos e dificuldades variam entre estudantes e ao longo do tempo.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2011680"/>
            <a:ext cx="34290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2011680"/>
            <a:ext cx="59436" cy="15544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06654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Oportunidade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468880"/>
            <a:ext cx="3154680" cy="103327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Técnicas computacionais podem organizar registros, revelar padrões e apoiar o acompanhamento.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92440" y="2011680"/>
            <a:ext cx="34290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92440" y="2011680"/>
            <a:ext cx="59436" cy="15544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206654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Responsabilidade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2468880"/>
            <a:ext cx="3154680" cy="103327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A saída computacional não substitui a avaliação do professor nem representa, sozinha, a aprendizagem.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572000"/>
            <a:ext cx="10058400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>
                <a:solidFill>
                  <a:srgbClr val="334155"/>
                </a:solidFill>
                <a:latin typeface="Arial"/>
              </a:rPr>
              <a:t>O trabalho investiga como a literatura articula técnicas, evidências educacionais e decisões de personalização — e transforma esse conhecimento em uma especificação auditável.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Questão e objetivo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43000"/>
            <a:ext cx="658368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143000"/>
            <a:ext cx="59436" cy="1920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197864"/>
            <a:ext cx="6309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Problema de pesquisa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6309360" cy="13990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2323"/>
                </a:solidFill>
                <a:latin typeface="Arial"/>
              </a:rPr>
              <a:t>Como estruturar uma especificação técnica e pedagógica de protótipo para apoiar a interpretação docente da aprendizagem matemática a partir das evidências e técnicas computacionais identificadas na literatura?</a:t>
            </a:r>
          </a:p>
        </p:txBody>
      </p:sp>
      <p:sp>
        <p:nvSpPr>
          <p:cNvPr id="7" name="Rectangle 6"/>
          <p:cNvSpPr/>
          <p:nvPr/>
        </p:nvSpPr>
        <p:spPr>
          <a:xfrm>
            <a:off x="7543800" y="1143000"/>
            <a:ext cx="393192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43800" y="1143000"/>
            <a:ext cx="59436" cy="19202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80" y="1197864"/>
            <a:ext cx="3657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Objetivo geral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80" y="1600200"/>
            <a:ext cx="3657600" cy="13990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2323"/>
                </a:solidFill>
                <a:latin typeface="Arial"/>
              </a:rPr>
              <a:t>Propor uma especificação técnica e pedagógica de protótipo para apoiar a interpretação docente da aprendizagem matemática, fundamentada no mapeamento e na análise da literatura científica.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94760"/>
            <a:ext cx="38404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Arial"/>
              </a:rPr>
              <a:t>Perguntas orientadoras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160520"/>
            <a:ext cx="10241280" cy="1417320"/>
          </a:xfrm>
          <a:prstGeom prst="rect">
            <a:avLst/>
          </a:prstGeom>
          <a:noFill/>
        </p:spPr>
        <p:txBody>
          <a:bodyPr wrap="square" lIns="109728" rIns="73152" tIns="36576" bIns="36576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Quais técnicas são aplicadas à educação matemática?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Como essas aplicações são avaliadas nos contextos estudados?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Quais lacunas e limitações aparecem na literatura?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Que requisitos podem orientar uma ferramenta de apoio?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Objetivos específicos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325880"/>
            <a:ext cx="51663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325880"/>
            <a:ext cx="59436" cy="1645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38074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0F0F"/>
                </a:solidFill>
                <a:latin typeface="Arial"/>
              </a:rPr>
              <a:t>OE1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4892040" cy="11247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32323"/>
                </a:solidFill>
                <a:latin typeface="Arial"/>
              </a:rPr>
              <a:t>Categorizar técnicas computacionais e finalidades pedagógicas na literatura mapeada.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337560"/>
            <a:ext cx="51663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3337560"/>
            <a:ext cx="59436" cy="1645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39242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0F0F"/>
                </a:solidFill>
                <a:latin typeface="Arial"/>
              </a:rPr>
              <a:t>OE2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794760"/>
            <a:ext cx="4892040" cy="11247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32323"/>
                </a:solidFill>
                <a:latin typeface="Arial"/>
              </a:rPr>
              <a:t>Identificar limitações e lacunas técnicas, pedagógicas, metodológicas e éticas.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325880"/>
            <a:ext cx="51663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325880"/>
            <a:ext cx="59436" cy="16459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38074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0F0F"/>
                </a:solidFill>
                <a:latin typeface="Arial"/>
              </a:rPr>
              <a:t>OE3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783080"/>
            <a:ext cx="4892040" cy="11247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32323"/>
                </a:solidFill>
                <a:latin typeface="Arial"/>
              </a:rPr>
              <a:t>Formular requisitos, critérios de dados e modelos e arquitetura de referência para o protótipo.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3337560"/>
            <a:ext cx="51663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3337560"/>
            <a:ext cx="59436" cy="16459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39242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0F0F"/>
                </a:solidFill>
                <a:latin typeface="Arial"/>
              </a:rPr>
              <a:t>OE4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94760"/>
            <a:ext cx="4892040" cy="11247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32323"/>
                </a:solidFill>
                <a:latin typeface="Arial"/>
              </a:rPr>
              <a:t>Propor um protocolo para avaliação futura dos aspectos técnicos e de adequação pedagógica.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69280"/>
            <a:ext cx="1028700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Arial"/>
              </a:rPr>
              <a:t>Revisão, MMAT preliminar e pipeline são meios metodológicos. Propor o protocolo não equivale a executá-lo nem comprova eficácia pedagógica.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A base conceitual: quatro níveis de interpretação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6984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0F172A"/>
                </a:solidFill>
                <a:latin typeface="Arial"/>
              </a:rPr>
              <a:t>A revisão pode reconhecer padrões; ela não observa diretamente todos os processos cognitivos e sociais envolvidos na aprendizagem.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4519"/>
            <a:ext cx="59436" cy="2057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Desempenho
observado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Registro de uma tarefa: acerto, nota, tentativa, estratégia ou tempo.</a:t>
            </a:r>
          </a:p>
        </p:txBody>
      </p:sp>
      <p:sp>
        <p:nvSpPr>
          <p:cNvPr id="8" name="Rectangle 7"/>
          <p:cNvSpPr/>
          <p:nvPr/>
        </p:nvSpPr>
        <p:spPr>
          <a:xfrm>
            <a:off x="3511296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11296" y="1874519"/>
            <a:ext cx="59436" cy="20574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94176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Proficiência
estimada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94176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Inferência sobre uma escala de conhecimentos e habilidades.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64224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64224" y="1874519"/>
            <a:ext cx="59436" cy="2057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47104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Competência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Mobilização de conhecimentos, habilidades, atitudes e valores para resolver demandas.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17152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217152" y="1874519"/>
            <a:ext cx="59436" cy="2057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0032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Aprendizagem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0032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Neste TCC: mudanças no que o estudante sabe e consegue fazer ao longo do tempo.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71600" y="4572000"/>
            <a:ext cx="9418320" cy="8229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00200" y="4800600"/>
            <a:ext cx="89611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Princípio de interpretação: a saída computacional apoia a análise docente; não constitui diagnóstico definitivo.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Desenho metodológico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9728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1097280"/>
            <a:ext cx="59436" cy="960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15214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PRISMA 2020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55448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Diretriz de relato transparente da revisão.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81928" y="109728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81928" y="1097280"/>
            <a:ext cx="59436" cy="9601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4808" y="115214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PICOS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4808" y="155448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População, intervenção, comparação, resultados e desenho.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33172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2331720"/>
            <a:ext cx="59436" cy="9601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238658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4 fontes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278892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Semantic Scholar, OpenAlex, Crossref e CORE.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81928" y="233172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81928" y="2331720"/>
            <a:ext cx="59436" cy="9601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4808" y="238658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Escopo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4808" y="278892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Inglês/português · 2015–2026 · corte em 31/08/2026.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069080"/>
            <a:ext cx="10789920" cy="1234440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297680"/>
            <a:ext cx="22860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Estratégia canônica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617720"/>
            <a:ext cx="996696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334155"/>
                </a:solidFill>
                <a:latin typeface="Arial"/>
              </a:rPr>
              <a:t>72 consultas compostas (48 em inglês + 24 em português), combinando domínio matemático, técnica computacional e contexto educacional.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102352"/>
            <a:ext cx="99669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48B"/>
                </a:solidFill>
                <a:latin typeface="Arial"/>
              </a:rPr>
              <a:t>O número descreve a composição versionada da estratégia; não é uma contagem retrospectiva de chamadas HTTP concluídas, pois não há log histórico completo.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Do registro bruto ao conjunto retido provisoriamente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60120"/>
            <a:ext cx="45720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Arial"/>
              </a:rPr>
              <a:t>Contagens do snapshot adjudicado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463040"/>
            <a:ext cx="1828800" cy="502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11.904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registros identificados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36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80360" y="1463040"/>
            <a:ext cx="1828800" cy="502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036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remoções por identidade
25 DOI + 2 URL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7492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74920" y="1463040"/>
            <a:ext cx="1828800" cy="5029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7492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11.877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registros na triagem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6948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69480" y="1463040"/>
            <a:ext cx="182880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9.391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excluídos na triagem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83080" y="379476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783080" y="3794760"/>
            <a:ext cx="1828800" cy="502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83080" y="391363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2.486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20" y="441655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submetidos à priorização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7639" y="379476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77639" y="3794760"/>
            <a:ext cx="1828800" cy="502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77639" y="391363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2.468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69079" y="441655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excluídos nessa etapa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72200" y="379476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72200" y="3794760"/>
            <a:ext cx="1828800" cy="502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72200" y="391363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441655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retidos operacionalmente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64748B"/>
                </a:solidFill>
                <a:latin typeface="Arial"/>
              </a:rPr>
              <a:t>A priorização dos 2.486 registros usa metadados/resumos e não equivale à elegibilidade em texto completo; títulos repetidos seguem para auditoria semântica.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Fluxo operacional do processo de seleção</a:t>
            </a:r>
          </a:p>
        </p:txBody>
      </p:sp>
      <p:pic>
        <p:nvPicPr>
          <p:cNvPr id="3" name="prisma_flow.png" descr="prisma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0660" y="960120"/>
            <a:ext cx="926592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172200"/>
            <a:ext cx="1028700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64748B"/>
                </a:solidFill>
                <a:latin typeface="Arial"/>
              </a:rPr>
              <a:t>Representação operacional própria; não reproduz todas as etapas do diagrama PRISMA 2020.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Deduplicação: o que foi confirmado</a:t>
            </a:r>
          </a:p>
        </p:txBody>
      </p:sp>
      <p:pic>
        <p:nvPicPr>
          <p:cNvPr id="3" name="selection_funnel.png" descr="selection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50666"/>
            <a:ext cx="5623560" cy="37395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537960" y="1234440"/>
            <a:ext cx="475488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37960" y="1234440"/>
            <a:ext cx="59436" cy="1143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20840" y="1289304"/>
            <a:ext cx="44805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Confirmadas no fluxo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0840" y="1691640"/>
            <a:ext cx="4480560" cy="6217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27 linhas excedentes por identidade bibliográfica determinística: 25 DOI normalizado e 2 URL exata.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37960" y="2697480"/>
            <a:ext cx="475488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37960" y="2697480"/>
            <a:ext cx="59436" cy="1143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2752344"/>
            <a:ext cx="44805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Mantidas para auditoria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3154680"/>
            <a:ext cx="4480560" cy="6217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232 excedentes apenas por título normalizado permaneceram como candidatos a revisão semântica.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37960" y="4160520"/>
            <a:ext cx="47548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4160520"/>
            <a:ext cx="59436" cy="1234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4215384"/>
            <a:ext cx="44805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Leitura científica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4617720"/>
            <a:ext cx="4480560" cy="7132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Títulos semelhantes podem ser versões, erratas ou obras distintas. Por isso, não foram tratados automaticamente como duplicatas confirmadas.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Panorama descritivo do snapshot</a:t>
            </a:r>
          </a:p>
        </p:txBody>
      </p:sp>
      <p:pic>
        <p:nvPicPr>
          <p:cNvPr id="3" name="techniques_distribution.png" descr="technique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14" y="1188720"/>
            <a:ext cx="7095612" cy="4709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92440" y="1234440"/>
            <a:ext cx="32004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172A"/>
                </a:solidFill>
                <a:latin typeface="Arial"/>
              </a:rPr>
              <a:t>Frequências mais recorrentes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0" y="169164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38160" y="1691640"/>
            <a:ext cx="3017520" cy="502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81051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6.399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31343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técnica não especificada</a:t>
            </a:r>
          </a:p>
        </p:txBody>
      </p:sp>
      <p:sp>
        <p:nvSpPr>
          <p:cNvPr id="9" name="Rectangle 8"/>
          <p:cNvSpPr/>
          <p:nvPr/>
        </p:nvSpPr>
        <p:spPr>
          <a:xfrm>
            <a:off x="8138160" y="269748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38160" y="2697480"/>
            <a:ext cx="3017520" cy="502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81635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1.073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331927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assessment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370332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3703320"/>
            <a:ext cx="3017520" cy="502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382219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863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432511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IA / inteligência artificial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470916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4709160"/>
            <a:ext cx="301752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482803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771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33095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machine learning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080760"/>
            <a:ext cx="10698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rial"/>
              </a:rPr>
              <a:t>As categorias podem se sobrepor e são calculadas sobre os 11.877 registros após a remoção determinística. Não representam qualidade ou eficácia.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Distribuição temporal e fontes</a:t>
            </a:r>
          </a:p>
        </p:txBody>
      </p:sp>
      <p:pic>
        <p:nvPicPr>
          <p:cNvPr id="3" name="papers_by_year.png" descr="papers_by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76227"/>
            <a:ext cx="5486400" cy="2202425"/>
          </a:xfrm>
          <a:prstGeom prst="rect">
            <a:avLst/>
          </a:prstGeom>
        </p:spPr>
      </p:pic>
      <p:pic>
        <p:nvPicPr>
          <p:cNvPr id="4" name="database_coverage.png" descr="database_cove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7460" y="1143000"/>
            <a:ext cx="3455879" cy="24688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77240" y="3977639"/>
            <a:ext cx="51663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3977639"/>
            <a:ext cx="59436" cy="10515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032503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Período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434839"/>
            <a:ext cx="4892040" cy="5303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O snapshot foi delimitado a 2015–2026, com data de corte em 31 de agosto de 2026. Como 2026 é parcial, sua barra não deve ser comparada diretamente com anos completos.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080" y="3977639"/>
            <a:ext cx="5074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3977639"/>
            <a:ext cx="59436" cy="10515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4032503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Fontes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4434839"/>
            <a:ext cx="4800600" cy="5303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As quatro fontes foram complementares; os totais brutos incluem registros posteriormente reconhecidos como duplicatas.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806440"/>
            <a:ext cx="102412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64748B"/>
                </a:solidFill>
                <a:latin typeface="Arial"/>
              </a:rPr>
              <a:t>Visualizações descritivas: não inferem representatividade, qualidade ou efeito pedagógico.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Conjunto retido e síntese empírica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34440"/>
            <a:ext cx="29260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234440"/>
            <a:ext cx="2926080" cy="502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53312"/>
            <a:ext cx="292608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900" b="1">
                <a:solidFill>
                  <a:srgbClr val="0F0F0F"/>
                </a:solidFill>
                <a:latin typeface="Arial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56232"/>
            <a:ext cx="2743200" cy="5760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32323"/>
                </a:solidFill>
                <a:latin typeface="Arial"/>
              </a:rPr>
              <a:t>registros retidos operacionalmente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26280" y="1234440"/>
            <a:ext cx="29260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26280" y="1234440"/>
            <a:ext cx="2926080" cy="502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353312"/>
            <a:ext cx="292608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900" b="1">
                <a:solidFill>
                  <a:srgbClr val="0F0F0F"/>
                </a:solidFill>
                <a:latin typeface="Arial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856232"/>
            <a:ext cx="2743200" cy="5760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32323"/>
                </a:solidFill>
                <a:latin typeface="Arial"/>
              </a:rPr>
              <a:t>registros empíricos mantidos provisoriamente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75320" y="1234440"/>
            <a:ext cx="29260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75320" y="1234440"/>
            <a:ext cx="292608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353312"/>
            <a:ext cx="292608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900" b="1">
                <a:solidFill>
                  <a:srgbClr val="0F0F0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1856232"/>
            <a:ext cx="2743200" cy="5760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32323"/>
                </a:solidFill>
                <a:latin typeface="Arial"/>
              </a:rPr>
              <a:t>texto integral pendente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063240"/>
            <a:ext cx="5166360" cy="1691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3063240"/>
            <a:ext cx="59436" cy="1691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11810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Desfecho da seleção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520440"/>
            <a:ext cx="4892040" cy="1170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2323"/>
                </a:solidFill>
                <a:latin typeface="Arial"/>
              </a:rPr>
              <a:t>Dos 18 registros shortlistados, 15 permanecem provisoriamente no núcleo empírico; um relatório não foi recuperado, um registro foi excluído após o resumo e um protocolo sem resultados concluídos foi excluído após texto completo. O estudo 8 permanece no fluxo, sem respostas MMAT até adjudicar elegibilidade e unidade; o texto não recuperado também não recebeu MMAT.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63240"/>
            <a:ext cx="5166360" cy="1691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3063240"/>
            <a:ext cx="59436" cy="16916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311810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Padrão observado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520440"/>
            <a:ext cx="4892040" cy="1170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2323"/>
                </a:solidFill>
                <a:latin typeface="Arial"/>
              </a:rPr>
              <a:t>Predomínio de aplicações voltadas à predição de desempenho e à estimativa de proficiência, com recorrência de modelos supervisionados como Random Forest, SVM, árvores de decisão e redes neurais.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806440"/>
            <a:ext cx="102412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64748B"/>
                </a:solidFill>
                <a:latin typeface="Arial"/>
              </a:rPr>
              <a:t>Os resultados de artigos individuais permanecem condicionados à população, ao instrumento, à métrica e ao desenho de cada estudo.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Apreciação metodológica pelo MMAT 2018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43000"/>
            <a:ext cx="2926080" cy="41605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08760"/>
            <a:ext cx="246888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MMAT 2018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148840"/>
            <a:ext cx="2468880" cy="7772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BAE6FD"/>
                </a:solidFill>
                <a:latin typeface="Arial"/>
              </a:rPr>
              <a:t>avaliação por critério
sem nota global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794760"/>
            <a:ext cx="2377440" cy="6858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E2E8F0"/>
                </a:solidFill>
                <a:latin typeface="Arial"/>
              </a:rPr>
              <a:t>Instrumento aplicado conforme o desenho metodológico de cada estudo empírico.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60520" y="1143000"/>
            <a:ext cx="35204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60520" y="1143000"/>
            <a:ext cx="59436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197864"/>
            <a:ext cx="324612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Como foi registrado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600200"/>
            <a:ext cx="324612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Cinco critérios por desenho, com respostas Sim, Não ou Não é possível determinar. As limitações permanecem visíveis por estudo.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143000"/>
            <a:ext cx="34290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143000"/>
            <a:ext cx="59436" cy="1417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19786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Estado atual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1600200"/>
            <a:ext cx="31546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MMAT preliminar em 14 dos 15 registros empíricos mantidos provisoriamente, por revisor único. O estudo 8 está sem respostas até adjudicação da elegibilidade/unidade; um texto não recuperado também não recebeu MMAT. Um registro foi excluído após resumo e um protocolo após texto completo.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60520" y="3063240"/>
            <a:ext cx="73152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60520" y="3063240"/>
            <a:ext cx="59436" cy="1417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43400" y="3118104"/>
            <a:ext cx="70408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O que não foi feito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3520440"/>
            <a:ext cx="70408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Não há média, ranking ou categoria agregada de qualidade. A adjudicação, os localizadores e a recuperação de fontes ainda precisam ser consolidados.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806440"/>
            <a:ext cx="102412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Arial"/>
              </a:rPr>
              <a:t>O MMAT organiza a leitura das limitações; não transforma uma apreciação preliminar em classificação definitiva.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O que a síntese sustenta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59436" cy="14173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8930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 síntese sustenta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A literatura oferece um mapa auditável de técnicas, finalidades e formas de avaliação aplicadas à educação matemática.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23444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234440"/>
            <a:ext cx="59436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8930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 heterogeneidade importa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69164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Populações, instrumentos, variáveis e métricas diferentes impedem comparar diretamente todos os resultados ou combiná-los em uma síntese quantitativa.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33756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337560"/>
            <a:ext cx="59436" cy="1417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 síntese não sustenta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79476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Uma técnica não pode ser declarada superior em geral, nem uma acurácia de um estudo ser transferida automaticamente para outra escola ou população.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33756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337560"/>
            <a:ext cx="59436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39242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Implicação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79476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Avaliação técnica, explicabilidade, contexto curricular e interpretação docente precisam acompanhar qualquer uso futuro.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806440"/>
            <a:ext cx="102412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0F172A"/>
                </a:solidFill>
                <a:latin typeface="Arial"/>
              </a:rPr>
              <a:t>Desempenho reportado em um artigo não equivale a evidência geral de eficácia pedagógica.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Limitações localizadas nos estudos consultados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97280"/>
            <a:ext cx="5257800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097280"/>
            <a:ext cx="59436" cy="1737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15214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He et al. (2025)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554480"/>
            <a:ext cx="4983480" cy="12161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Oito turmas de 45 estudantes são descritas, mas a amostra declarada é n=90; docentes também se distribuem de modo desigual entre condições (pp. 1, 16, 31–35). Isso exige cautela com denominadores e possível confundimento.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097280"/>
            <a:ext cx="5257800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097280"/>
            <a:ext cx="59436" cy="17373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15214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Villegas-Ch et al. (2025)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554480"/>
            <a:ext cx="4983480" cy="12161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Os métodos descrevem seis semanas, mas os resultados chegam à oitava, sem conciliação nos trechos consultados (pp. 14, 22). Não se deve impor duração única à síntese.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063239"/>
            <a:ext cx="5257800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063239"/>
            <a:ext cx="59436" cy="1737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118103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Nyantah et al. (2025)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520439"/>
            <a:ext cx="4983480" cy="12161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A alocação é descrita de modo incompatível; há diferença no pré-teste e a intervenção combina animação e jigsaw (pp. 101–105). O resultado não deve ser atribuído à animação isoladamente.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063239"/>
            <a:ext cx="5257800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063239"/>
            <a:ext cx="59436" cy="17373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118103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Echeveria et al. (2025)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520439"/>
            <a:ext cx="4983480" cy="12161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Oito itens usados para formar categorias também aparecem entre os preditores selecionados (pp. 66, 69–70). A classificação não estabelece diagnóstico independente.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74920"/>
            <a:ext cx="10561320" cy="6400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>
                <a:solidFill>
                  <a:srgbClr val="334155"/>
                </a:solidFill>
                <a:latin typeface="Arial"/>
              </a:rPr>
              <a:t>Estes exemplos localizados não estimam a frequência da literatura. Quinze registros permanecem provisoriamente no núcleo; o MMAT preliminar abrange 14, e o estudo 8 segue sem respostas até adjudicação da unidade. Um relatório não recuperado não recebeu MMAT; um registro foi excluído após resumo e um protocolo após texto completo.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Da evidência à especificação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874519"/>
            <a:ext cx="59436" cy="1828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Evidências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revisão + fundamentação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2032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39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34639" y="1874519"/>
            <a:ext cx="59436" cy="1828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17519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Lacunas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19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técnicas, pedagógicas, metodológicas e éticas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73752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66359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66359" y="1874519"/>
            <a:ext cx="59436" cy="1828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9239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Requisitos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39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funcionais e não funcionais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5471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98079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98079" y="1874519"/>
            <a:ext cx="59436" cy="18288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59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Protocolo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59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dados, modelos, métricas e limites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7192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829800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829800" y="1874519"/>
            <a:ext cx="59436" cy="18288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12680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Arquitetura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referência conceitual auditável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234440" y="4617720"/>
            <a:ext cx="9646920" cy="7315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508760" y="4846320"/>
            <a:ext cx="90982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O resultado é uma especificação conceitual: documentada, verificável e coerente com o escopo executado.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Especificação conceitual do protótipo</a:t>
            </a:r>
          </a:p>
        </p:txBody>
      </p:sp>
      <p:pic>
        <p:nvPicPr>
          <p:cNvPr id="3" name="arquitetura_prototipo.png" descr="arquitetura_prototi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04540"/>
            <a:ext cx="5806440" cy="467751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720840" y="1143000"/>
            <a:ext cx="4023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Arial"/>
              </a:rPr>
              <a:t>Componentes previstos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20840" y="1600200"/>
            <a:ext cx="4572000" cy="2240280"/>
          </a:xfrm>
          <a:prstGeom prst="rect">
            <a:avLst/>
          </a:prstGeom>
          <a:noFill/>
        </p:spPr>
        <p:txBody>
          <a:bodyPr wrap="square" lIns="109728" rIns="73152" tIns="36576" bIns="36576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ingestão e validação das fontes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preparação e documentação das variáveis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modelagem e comparação de alternativas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avaliação, explicabilidade e análise de erros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apresentação para interpretação docente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720840" y="4251960"/>
            <a:ext cx="457200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720840" y="4251960"/>
            <a:ext cx="59436" cy="12344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4306824"/>
            <a:ext cx="4297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Limite do artefato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4709160"/>
            <a:ext cx="4297680" cy="7132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Não é uma aplicação funcional: não houve treinamento com uma base definitiva, métricas próprias ou validação com participantes.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Contribuições e limites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5257800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143000"/>
            <a:ext cx="59436" cy="28346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9786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0F0F"/>
                </a:solidFill>
                <a:latin typeface="Arial"/>
              </a:rPr>
              <a:t>Contribuições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983480" cy="2313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• síntese estruturada da literatura
• pipeline automatizado e versionado
• separação entre relevância e avaliação metodológica
• especificação técnica e pedagógica auditável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143000"/>
            <a:ext cx="5257800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143000"/>
            <a:ext cx="59436" cy="2834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19786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0F0F"/>
                </a:solidFill>
                <a:latin typeface="Arial"/>
              </a:rPr>
              <a:t>Limites assumidos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600200"/>
            <a:ext cx="4983480" cy="2313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• um único pesquisador
• um texto integral pendente, sem MMAT
• fontes e idiomas delimitados
• MMAT preliminar em 14 de 15 inclusões provisórias; estudo 8 sem avaliação
• sem aplicação funcional ou eficácia pedagógica própria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17720"/>
            <a:ext cx="1828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172A"/>
                </a:solidFill>
                <a:latin typeface="Arial"/>
              </a:rPr>
              <a:t>Conclusão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74920"/>
            <a:ext cx="10469880" cy="6400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334155"/>
                </a:solidFill>
                <a:latin typeface="Arial"/>
              </a:rPr>
              <a:t>O trabalho respondeu ao escopo ao articular revisão sistemática, fundamentação pedagógica, apreciação metodológica e especificação conceitual — mantendo o professor no centro da interpretação.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cc-title"/>
          <p:cNvSpPr txBox="1"/>
          <p:nvPr/>
        </p:nvSpPr>
        <p:spPr>
          <a:xfrm>
            <a:off x="640080" y="1600200"/>
            <a:ext cx="10881360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Arial"/>
              </a:rPr>
              <a:t>Obrigado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327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0">
                <a:solidFill>
                  <a:srgbClr val="BAE6FD"/>
                </a:solidFill>
                <a:latin typeface="Arial"/>
              </a:rPr>
              <a:t>Perguntas e discussão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977639"/>
            <a:ext cx="9966960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Ensino Personalizado de Matemática
Oportunidades e Técnicas Computacionais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303520"/>
            <a:ext cx="996696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>
                <a:solidFill>
                  <a:srgbClr val="E2E8F0"/>
                </a:solidFill>
                <a:latin typeface="Arial"/>
              </a:rPr>
              <a:t>Thales Ferreira Batista · Ciência da Computação · IFC Videira
Revisão atualizada: 14/10/2026 · corte da busca: 31/08/2026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Ensino Personalizado de Matemática — Apresentação do TCC</dc:title>
  <dc:subject>Revisão sistemática da literatura e especificação conceitual de protótipo</dc:subject>
  <dc:creator>Thales Ferreira Batista</dc:creator>
  <cp:keywords/>
  <dc:description>Gerado por scripts/generate_tcc_presentation.py a partir dos artefatos versionados do TCC.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