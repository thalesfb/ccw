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5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12064" y="0"/>
            <a:ext cx="7315" cy="6858000"/>
          </a:xfrm>
          <a:prstGeom prst="rect">
            <a:avLst/>
          </a:prstGeom>
          <a:solidFill>
            <a:srgbClr val="E1E4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024128" y="0"/>
            <a:ext cx="7315" cy="6858000"/>
          </a:xfrm>
          <a:prstGeom prst="rect">
            <a:avLst/>
          </a:prstGeom>
          <a:solidFill>
            <a:srgbClr val="E1E4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536192" y="0"/>
            <a:ext cx="7315" cy="6858000"/>
          </a:xfrm>
          <a:prstGeom prst="rect">
            <a:avLst/>
          </a:prstGeom>
          <a:solidFill>
            <a:srgbClr val="E1E4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2048256" y="0"/>
            <a:ext cx="7315" cy="6858000"/>
          </a:xfrm>
          <a:prstGeom prst="rect">
            <a:avLst/>
          </a:prstGeom>
          <a:solidFill>
            <a:srgbClr val="E1E4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2560320" y="0"/>
            <a:ext cx="7315" cy="6858000"/>
          </a:xfrm>
          <a:prstGeom prst="rect">
            <a:avLst/>
          </a:prstGeom>
          <a:solidFill>
            <a:srgbClr val="E1E4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3072384" y="0"/>
            <a:ext cx="7315" cy="6858000"/>
          </a:xfrm>
          <a:prstGeom prst="rect">
            <a:avLst/>
          </a:prstGeom>
          <a:solidFill>
            <a:srgbClr val="E1E4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3584448" y="0"/>
            <a:ext cx="7315" cy="6858000"/>
          </a:xfrm>
          <a:prstGeom prst="rect">
            <a:avLst/>
          </a:prstGeom>
          <a:solidFill>
            <a:srgbClr val="E1E4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096512" y="0"/>
            <a:ext cx="7315" cy="6858000"/>
          </a:xfrm>
          <a:prstGeom prst="rect">
            <a:avLst/>
          </a:prstGeom>
          <a:solidFill>
            <a:srgbClr val="E1E4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608576" y="0"/>
            <a:ext cx="7315" cy="6858000"/>
          </a:xfrm>
          <a:prstGeom prst="rect">
            <a:avLst/>
          </a:prstGeom>
          <a:solidFill>
            <a:srgbClr val="E1E4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120640" y="0"/>
            <a:ext cx="7315" cy="6858000"/>
          </a:xfrm>
          <a:prstGeom prst="rect">
            <a:avLst/>
          </a:prstGeom>
          <a:solidFill>
            <a:srgbClr val="E1E4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632704" y="0"/>
            <a:ext cx="7315" cy="6858000"/>
          </a:xfrm>
          <a:prstGeom prst="rect">
            <a:avLst/>
          </a:prstGeom>
          <a:solidFill>
            <a:srgbClr val="E1E4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144768" y="0"/>
            <a:ext cx="7315" cy="6858000"/>
          </a:xfrm>
          <a:prstGeom prst="rect">
            <a:avLst/>
          </a:prstGeom>
          <a:solidFill>
            <a:srgbClr val="E1E4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656832" y="0"/>
            <a:ext cx="7315" cy="6858000"/>
          </a:xfrm>
          <a:prstGeom prst="rect">
            <a:avLst/>
          </a:prstGeom>
          <a:solidFill>
            <a:srgbClr val="E1E4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7168896" y="0"/>
            <a:ext cx="7315" cy="6858000"/>
          </a:xfrm>
          <a:prstGeom prst="rect">
            <a:avLst/>
          </a:prstGeom>
          <a:solidFill>
            <a:srgbClr val="E1E4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7680960" y="0"/>
            <a:ext cx="7315" cy="6858000"/>
          </a:xfrm>
          <a:prstGeom prst="rect">
            <a:avLst/>
          </a:prstGeom>
          <a:solidFill>
            <a:srgbClr val="E1E4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193024" y="0"/>
            <a:ext cx="7315" cy="6858000"/>
          </a:xfrm>
          <a:prstGeom prst="rect">
            <a:avLst/>
          </a:prstGeom>
          <a:solidFill>
            <a:srgbClr val="E1E4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8705088" y="0"/>
            <a:ext cx="7315" cy="6858000"/>
          </a:xfrm>
          <a:prstGeom prst="rect">
            <a:avLst/>
          </a:prstGeom>
          <a:solidFill>
            <a:srgbClr val="E1E4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9217152" y="0"/>
            <a:ext cx="7315" cy="6858000"/>
          </a:xfrm>
          <a:prstGeom prst="rect">
            <a:avLst/>
          </a:prstGeom>
          <a:solidFill>
            <a:srgbClr val="E1E4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9729216" y="0"/>
            <a:ext cx="7315" cy="6858000"/>
          </a:xfrm>
          <a:prstGeom prst="rect">
            <a:avLst/>
          </a:prstGeom>
          <a:solidFill>
            <a:srgbClr val="E1E4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10241280" y="0"/>
            <a:ext cx="7315" cy="6858000"/>
          </a:xfrm>
          <a:prstGeom prst="rect">
            <a:avLst/>
          </a:prstGeom>
          <a:solidFill>
            <a:srgbClr val="E1E4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10753344" y="0"/>
            <a:ext cx="7315" cy="6858000"/>
          </a:xfrm>
          <a:prstGeom prst="rect">
            <a:avLst/>
          </a:prstGeom>
          <a:solidFill>
            <a:srgbClr val="E1E4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11265408" y="0"/>
            <a:ext cx="7315" cy="6858000"/>
          </a:xfrm>
          <a:prstGeom prst="rect">
            <a:avLst/>
          </a:prstGeom>
          <a:solidFill>
            <a:srgbClr val="E1E4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11777472" y="0"/>
            <a:ext cx="7315" cy="6858000"/>
          </a:xfrm>
          <a:prstGeom prst="rect">
            <a:avLst/>
          </a:prstGeom>
          <a:solidFill>
            <a:srgbClr val="E1E4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12289536" y="0"/>
            <a:ext cx="7315" cy="6858000"/>
          </a:xfrm>
          <a:prstGeom prst="rect">
            <a:avLst/>
          </a:prstGeom>
          <a:solidFill>
            <a:srgbClr val="E1E4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0" y="512064"/>
            <a:ext cx="12191695" cy="7315"/>
          </a:xfrm>
          <a:prstGeom prst="rect">
            <a:avLst/>
          </a:prstGeom>
          <a:solidFill>
            <a:srgbClr val="E1E4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0" y="1024128"/>
            <a:ext cx="12191695" cy="7315"/>
          </a:xfrm>
          <a:prstGeom prst="rect">
            <a:avLst/>
          </a:prstGeom>
          <a:solidFill>
            <a:srgbClr val="E1E4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0" y="1536192"/>
            <a:ext cx="12191695" cy="7315"/>
          </a:xfrm>
          <a:prstGeom prst="rect">
            <a:avLst/>
          </a:prstGeom>
          <a:solidFill>
            <a:srgbClr val="E1E4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0" y="2048256"/>
            <a:ext cx="12191695" cy="7315"/>
          </a:xfrm>
          <a:prstGeom prst="rect">
            <a:avLst/>
          </a:prstGeom>
          <a:solidFill>
            <a:srgbClr val="E1E4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0" y="2560320"/>
            <a:ext cx="12191695" cy="7315"/>
          </a:xfrm>
          <a:prstGeom prst="rect">
            <a:avLst/>
          </a:prstGeom>
          <a:solidFill>
            <a:srgbClr val="E1E4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0" y="3072384"/>
            <a:ext cx="12191695" cy="7315"/>
          </a:xfrm>
          <a:prstGeom prst="rect">
            <a:avLst/>
          </a:prstGeom>
          <a:solidFill>
            <a:srgbClr val="E1E4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0" y="3584448"/>
            <a:ext cx="12191695" cy="7315"/>
          </a:xfrm>
          <a:prstGeom prst="rect">
            <a:avLst/>
          </a:prstGeom>
          <a:solidFill>
            <a:srgbClr val="E1E4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0" y="4096512"/>
            <a:ext cx="12191695" cy="7315"/>
          </a:xfrm>
          <a:prstGeom prst="rect">
            <a:avLst/>
          </a:prstGeom>
          <a:solidFill>
            <a:srgbClr val="E1E4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0" y="4608576"/>
            <a:ext cx="12191695" cy="7315"/>
          </a:xfrm>
          <a:prstGeom prst="rect">
            <a:avLst/>
          </a:prstGeom>
          <a:solidFill>
            <a:srgbClr val="E1E4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0" y="5120640"/>
            <a:ext cx="12191695" cy="7315"/>
          </a:xfrm>
          <a:prstGeom prst="rect">
            <a:avLst/>
          </a:prstGeom>
          <a:solidFill>
            <a:srgbClr val="E1E4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0" y="5632704"/>
            <a:ext cx="12191695" cy="7315"/>
          </a:xfrm>
          <a:prstGeom prst="rect">
            <a:avLst/>
          </a:prstGeom>
          <a:solidFill>
            <a:srgbClr val="E1E4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0" y="6144768"/>
            <a:ext cx="12191695" cy="7315"/>
          </a:xfrm>
          <a:prstGeom prst="rect">
            <a:avLst/>
          </a:prstGeom>
          <a:solidFill>
            <a:srgbClr val="E1E4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0" y="6656832"/>
            <a:ext cx="12191695" cy="7315"/>
          </a:xfrm>
          <a:prstGeom prst="rect">
            <a:avLst/>
          </a:prstGeom>
          <a:solidFill>
            <a:srgbClr val="E1E4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320040" y="320040"/>
            <a:ext cx="1737360" cy="32004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2200" b="0">
                <a:solidFill>
                  <a:srgbClr val="BEC2C7"/>
                </a:solidFill>
                <a:latin typeface="Cambria Math"/>
              </a:rPr>
              <a:t>∫ f(x) · dx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2240280" y="182880"/>
            <a:ext cx="1645920" cy="32004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0">
                <a:solidFill>
                  <a:srgbClr val="BEC2C7"/>
                </a:solidFill>
                <a:latin typeface="Cambria Math"/>
              </a:rPr>
              <a:t>eⁿᵗ − m g(x)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8549640" y="320040"/>
            <a:ext cx="3017520" cy="32004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0">
                <a:solidFill>
                  <a:srgbClr val="BEC2C7"/>
                </a:solidFill>
                <a:latin typeface="Cambria Math"/>
              </a:rPr>
              <a:t>P = {xᵢ} + (xᵢ − x̄)²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9235440" y="960120"/>
            <a:ext cx="2194560" cy="41148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0">
                <a:solidFill>
                  <a:srgbClr val="BEC2C7"/>
                </a:solidFill>
                <a:latin typeface="Cambria Math"/>
              </a:rPr>
              <a:t>A = [ a₁  b₂ ; c₃  d₄ ]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28600" y="5349240"/>
            <a:ext cx="2194560" cy="32004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0">
                <a:solidFill>
                  <a:srgbClr val="BEC2C7"/>
                </a:solidFill>
                <a:latin typeface="Cambria Math"/>
              </a:rPr>
              <a:t>R₀ = m eᵞ (μ₂ / 2)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1005840" y="6126480"/>
            <a:ext cx="1645920" cy="32004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0">
                <a:solidFill>
                  <a:srgbClr val="BEC2C7"/>
                </a:solidFill>
                <a:latin typeface="Cambria Math"/>
              </a:rPr>
              <a:t>y = (x + 1)ⁿ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9555480" y="5440680"/>
            <a:ext cx="1920240" cy="32004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0">
                <a:solidFill>
                  <a:srgbClr val="BEC2C7"/>
                </a:solidFill>
                <a:latin typeface="Cambria Math"/>
              </a:rPr>
              <a:t>n = −√(2x²)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9098280" y="6126480"/>
            <a:ext cx="2011680" cy="32004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0">
                <a:solidFill>
                  <a:srgbClr val="BEC2C7"/>
                </a:solidFill>
                <a:latin typeface="Cambria Math"/>
              </a:rPr>
              <a:t>sin(x) = kπ / n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5559552" y="256032"/>
            <a:ext cx="118872" cy="118872"/>
          </a:xfrm>
          <a:prstGeom prst="roundRect">
            <a:avLst/>
          </a:prstGeom>
          <a:solidFill>
            <a:srgbClr val="BE2D2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Rounded Rectangle 47"/>
          <p:cNvSpPr/>
          <p:nvPr/>
        </p:nvSpPr>
        <p:spPr>
          <a:xfrm>
            <a:off x="5724144" y="256032"/>
            <a:ext cx="118872" cy="118872"/>
          </a:xfrm>
          <a:prstGeom prst="roundRect">
            <a:avLst/>
          </a:prstGeom>
          <a:solidFill>
            <a:srgbClr val="2C91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Rounded Rectangle 48"/>
          <p:cNvSpPr/>
          <p:nvPr/>
        </p:nvSpPr>
        <p:spPr>
          <a:xfrm>
            <a:off x="5888736" y="256032"/>
            <a:ext cx="118872" cy="118872"/>
          </a:xfrm>
          <a:prstGeom prst="roundRect">
            <a:avLst/>
          </a:prstGeom>
          <a:solidFill>
            <a:srgbClr val="2C91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Rounded Rectangle 49"/>
          <p:cNvSpPr/>
          <p:nvPr/>
        </p:nvSpPr>
        <p:spPr>
          <a:xfrm>
            <a:off x="5559552" y="420624"/>
            <a:ext cx="118872" cy="118872"/>
          </a:xfrm>
          <a:prstGeom prst="roundRect">
            <a:avLst/>
          </a:prstGeom>
          <a:solidFill>
            <a:srgbClr val="2C91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Rounded Rectangle 50"/>
          <p:cNvSpPr/>
          <p:nvPr/>
        </p:nvSpPr>
        <p:spPr>
          <a:xfrm>
            <a:off x="5724144" y="420624"/>
            <a:ext cx="118872" cy="118872"/>
          </a:xfrm>
          <a:prstGeom prst="roundRect">
            <a:avLst/>
          </a:prstGeom>
          <a:solidFill>
            <a:srgbClr val="2C91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Rounded Rectangle 51"/>
          <p:cNvSpPr/>
          <p:nvPr/>
        </p:nvSpPr>
        <p:spPr>
          <a:xfrm>
            <a:off x="5888736" y="420624"/>
            <a:ext cx="118872" cy="118872"/>
          </a:xfrm>
          <a:prstGeom prst="roundRect">
            <a:avLst/>
          </a:prstGeom>
          <a:solidFill>
            <a:srgbClr val="2C91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Rounded Rectangle 52"/>
          <p:cNvSpPr/>
          <p:nvPr/>
        </p:nvSpPr>
        <p:spPr>
          <a:xfrm>
            <a:off x="5559552" y="585216"/>
            <a:ext cx="118872" cy="118872"/>
          </a:xfrm>
          <a:prstGeom prst="roundRect">
            <a:avLst/>
          </a:prstGeom>
          <a:solidFill>
            <a:srgbClr val="2C91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Rounded Rectangle 53"/>
          <p:cNvSpPr/>
          <p:nvPr/>
        </p:nvSpPr>
        <p:spPr>
          <a:xfrm>
            <a:off x="5724144" y="585216"/>
            <a:ext cx="118872" cy="118872"/>
          </a:xfrm>
          <a:prstGeom prst="roundRect">
            <a:avLst/>
          </a:prstGeom>
          <a:solidFill>
            <a:srgbClr val="2C91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Rounded Rectangle 54"/>
          <p:cNvSpPr/>
          <p:nvPr/>
        </p:nvSpPr>
        <p:spPr>
          <a:xfrm>
            <a:off x="5888736" y="585216"/>
            <a:ext cx="118872" cy="118872"/>
          </a:xfrm>
          <a:prstGeom prst="roundRect">
            <a:avLst/>
          </a:prstGeom>
          <a:solidFill>
            <a:srgbClr val="2C91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Rounded Rectangle 55"/>
          <p:cNvSpPr/>
          <p:nvPr/>
        </p:nvSpPr>
        <p:spPr>
          <a:xfrm>
            <a:off x="5559552" y="749808"/>
            <a:ext cx="118872" cy="118872"/>
          </a:xfrm>
          <a:prstGeom prst="roundRect">
            <a:avLst/>
          </a:prstGeom>
          <a:solidFill>
            <a:srgbClr val="2C91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Rounded Rectangle 56"/>
          <p:cNvSpPr/>
          <p:nvPr/>
        </p:nvSpPr>
        <p:spPr>
          <a:xfrm>
            <a:off x="5724144" y="749808"/>
            <a:ext cx="118872" cy="118872"/>
          </a:xfrm>
          <a:prstGeom prst="roundRect">
            <a:avLst/>
          </a:prstGeom>
          <a:solidFill>
            <a:srgbClr val="2C91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Rounded Rectangle 57"/>
          <p:cNvSpPr/>
          <p:nvPr/>
        </p:nvSpPr>
        <p:spPr>
          <a:xfrm>
            <a:off x="5888736" y="749808"/>
            <a:ext cx="118872" cy="118872"/>
          </a:xfrm>
          <a:prstGeom prst="roundRect">
            <a:avLst/>
          </a:prstGeom>
          <a:solidFill>
            <a:srgbClr val="2C91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4892040" y="932688"/>
            <a:ext cx="2423160" cy="420624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250" b="1">
                <a:solidFill>
                  <a:srgbClr val="141414"/>
                </a:solidFill>
                <a:latin typeface="Arial"/>
              </a:rPr>
              <a:t>INSTITUTO
FEDERAL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4892040" y="1353312"/>
            <a:ext cx="2423160" cy="22860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150" b="0">
                <a:solidFill>
                  <a:srgbClr val="141414"/>
                </a:solidFill>
                <a:latin typeface="Arial"/>
              </a:rPr>
              <a:t>Catarinense</a:t>
            </a:r>
          </a:p>
        </p:txBody>
      </p:sp>
      <p:sp>
        <p:nvSpPr>
          <p:cNvPr id="61" name="tcc-title"/>
          <p:cNvSpPr txBox="1"/>
          <p:nvPr/>
        </p:nvSpPr>
        <p:spPr>
          <a:xfrm>
            <a:off x="594360" y="1828800"/>
            <a:ext cx="11018520" cy="105156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3200" b="1">
                <a:solidFill>
                  <a:srgbClr val="0B566C"/>
                </a:solidFill>
                <a:latin typeface="Arial"/>
              </a:rPr>
              <a:t>Ensino Personalizado de Matemática:
Oportunidades e Técnicas Computacionais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1234440" y="3182112"/>
            <a:ext cx="9738360" cy="41148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2000" b="0">
                <a:solidFill>
                  <a:srgbClr val="0B566C"/>
                </a:solidFill>
                <a:latin typeface="Arial"/>
              </a:rPr>
              <a:t>Revisão sistemática da literatura e especificação conceitual de protótipo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3657600" y="4069080"/>
            <a:ext cx="4892040" cy="59436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600" b="0">
                <a:solidFill>
                  <a:srgbClr val="141414"/>
                </a:solidFill>
                <a:latin typeface="Arial"/>
              </a:rPr>
              <a:t>Thales Ferreira Batista
Ciência da Computação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3017520" y="4892040"/>
            <a:ext cx="6172200" cy="59436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400" b="0">
                <a:solidFill>
                  <a:srgbClr val="141414"/>
                </a:solidFill>
                <a:latin typeface="Arial"/>
              </a:rPr>
              <a:t>Orientador: Prof. Dr. Rafael Zanin
Coorientador: Prof. Dr. Manassés Ribeiro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2057400" y="5806440"/>
            <a:ext cx="8092440" cy="45720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150" b="0">
                <a:solidFill>
                  <a:srgbClr val="373737"/>
                </a:solidFill>
                <a:latin typeface="Arial"/>
              </a:rPr>
              <a:t>Instituto Federal Catarinense — Campus Videira
Snapshot adjudicado: 03/09/2026 · recorte temporal: 2015–2026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cc-title"/>
          <p:cNvSpPr txBox="1"/>
          <p:nvPr/>
        </p:nvSpPr>
        <p:spPr>
          <a:xfrm>
            <a:off x="502920" y="256032"/>
            <a:ext cx="10698480" cy="658368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3000" b="1">
                <a:solidFill>
                  <a:srgbClr val="0A0A0A"/>
                </a:solidFill>
                <a:latin typeface="Arial"/>
              </a:rPr>
              <a:t>O problema de pesquisa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1143000"/>
            <a:ext cx="10835640" cy="59436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2100" b="1">
                <a:solidFill>
                  <a:srgbClr val="0F172A"/>
                </a:solidFill>
                <a:latin typeface="Arial"/>
              </a:rPr>
              <a:t>Turmas heterogêneas produzem muitas evidências, mas a evidência só se torna útil quando é interpretada no contexto pedagógico.</a:t>
            </a:r>
          </a:p>
        </p:txBody>
      </p:sp>
      <p:sp>
        <p:nvSpPr>
          <p:cNvPr id="4" name="Rectangle 3"/>
          <p:cNvSpPr/>
          <p:nvPr/>
        </p:nvSpPr>
        <p:spPr>
          <a:xfrm>
            <a:off x="685800" y="2011680"/>
            <a:ext cx="3429000" cy="155448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85800" y="2011680"/>
            <a:ext cx="59436" cy="155448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68680" y="2066544"/>
            <a:ext cx="3154680" cy="384048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1">
                <a:solidFill>
                  <a:srgbClr val="0F0F0F"/>
                </a:solidFill>
                <a:latin typeface="Arial"/>
              </a:rPr>
              <a:t>Contexto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68680" y="2468880"/>
            <a:ext cx="3154680" cy="1033273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50" b="0">
                <a:solidFill>
                  <a:srgbClr val="232323"/>
                </a:solidFill>
                <a:latin typeface="Arial"/>
              </a:rPr>
              <a:t>Conhecimentos prévios, ritmos e dificuldades variam entre estudantes e ao longo do tempo.</a:t>
            </a:r>
          </a:p>
        </p:txBody>
      </p:sp>
      <p:sp>
        <p:nvSpPr>
          <p:cNvPr id="8" name="Rectangle 7"/>
          <p:cNvSpPr/>
          <p:nvPr/>
        </p:nvSpPr>
        <p:spPr>
          <a:xfrm>
            <a:off x="4389120" y="2011680"/>
            <a:ext cx="3429000" cy="155448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389120" y="2011680"/>
            <a:ext cx="59436" cy="1554480"/>
          </a:xfrm>
          <a:prstGeom prst="rect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572000" y="2066544"/>
            <a:ext cx="3154680" cy="384048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1">
                <a:solidFill>
                  <a:srgbClr val="0F0F0F"/>
                </a:solidFill>
                <a:latin typeface="Arial"/>
              </a:rPr>
              <a:t>Oportunidade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0" y="2468880"/>
            <a:ext cx="3154680" cy="1033273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50" b="0">
                <a:solidFill>
                  <a:srgbClr val="232323"/>
                </a:solidFill>
                <a:latin typeface="Arial"/>
              </a:rPr>
              <a:t>Técnicas computacionais podem organizar registros, revelar padrões e apoiar o acompanhamento.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092440" y="2011680"/>
            <a:ext cx="3429000" cy="155448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8092440" y="2011680"/>
            <a:ext cx="59436" cy="1554480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275320" y="2066544"/>
            <a:ext cx="3154680" cy="384048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1">
                <a:solidFill>
                  <a:srgbClr val="0F0F0F"/>
                </a:solidFill>
                <a:latin typeface="Arial"/>
              </a:rPr>
              <a:t>Responsabilidade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275320" y="2468880"/>
            <a:ext cx="3154680" cy="1033273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50" b="0">
                <a:solidFill>
                  <a:srgbClr val="232323"/>
                </a:solidFill>
                <a:latin typeface="Arial"/>
              </a:rPr>
              <a:t>A saída computacional não substitui a avaliação do professor nem representa, sozinha, a aprendizagem.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51560" y="4572000"/>
            <a:ext cx="10058400" cy="73152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2000" b="0">
                <a:solidFill>
                  <a:srgbClr val="334155"/>
                </a:solidFill>
                <a:latin typeface="Arial"/>
              </a:rPr>
              <a:t>O trabalho investiga como a literatura articula técnicas, evidências educacionais e decisões de personalização — e transforma esse conhecimento em uma especificação auditável.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cc-title"/>
          <p:cNvSpPr txBox="1"/>
          <p:nvPr/>
        </p:nvSpPr>
        <p:spPr>
          <a:xfrm>
            <a:off x="502920" y="256032"/>
            <a:ext cx="10698480" cy="658368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3000" b="1">
                <a:solidFill>
                  <a:srgbClr val="0A0A0A"/>
                </a:solidFill>
                <a:latin typeface="Arial"/>
              </a:rPr>
              <a:t>Questão e objetivo</a:t>
            </a:r>
          </a:p>
        </p:txBody>
      </p:sp>
      <p:sp>
        <p:nvSpPr>
          <p:cNvPr id="3" name="Rectangle 2"/>
          <p:cNvSpPr/>
          <p:nvPr/>
        </p:nvSpPr>
        <p:spPr>
          <a:xfrm>
            <a:off x="685800" y="1143000"/>
            <a:ext cx="6583680" cy="192024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85800" y="1143000"/>
            <a:ext cx="59436" cy="192024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68680" y="1197864"/>
            <a:ext cx="6309360" cy="384048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700" b="1">
                <a:solidFill>
                  <a:srgbClr val="0F0F0F"/>
                </a:solidFill>
                <a:latin typeface="Arial"/>
              </a:rPr>
              <a:t>Problema de pesquisa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68680" y="1600200"/>
            <a:ext cx="6309360" cy="1399033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0">
                <a:solidFill>
                  <a:srgbClr val="232323"/>
                </a:solidFill>
                <a:latin typeface="Arial"/>
              </a:rPr>
              <a:t>Como identificar e sintetizar, por meio de revisão sistemática, as principais técnicas computacionais aplicadas ao ensino de matemática e converter essas evidências em uma especificação de protótipo que apoie o professor?</a:t>
            </a:r>
          </a:p>
        </p:txBody>
      </p:sp>
      <p:sp>
        <p:nvSpPr>
          <p:cNvPr id="7" name="Rectangle 6"/>
          <p:cNvSpPr/>
          <p:nvPr/>
        </p:nvSpPr>
        <p:spPr>
          <a:xfrm>
            <a:off x="7543800" y="1143000"/>
            <a:ext cx="3931920" cy="192024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543800" y="1143000"/>
            <a:ext cx="59436" cy="1920240"/>
          </a:xfrm>
          <a:prstGeom prst="rect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726680" y="1197864"/>
            <a:ext cx="3657600" cy="384048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700" b="1">
                <a:solidFill>
                  <a:srgbClr val="0F0F0F"/>
                </a:solidFill>
                <a:latin typeface="Arial"/>
              </a:rPr>
              <a:t>Objetivo geral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26680" y="1600200"/>
            <a:ext cx="3657600" cy="1399033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0">
                <a:solidFill>
                  <a:srgbClr val="232323"/>
                </a:solidFill>
                <a:latin typeface="Arial"/>
              </a:rPr>
              <a:t>Mapear e analisar sistematicamente as aplicações e elaborar uma especificação técnica e pedagógica para apoiar a interpretação de evidências sobre competências.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13232" y="3794760"/>
            <a:ext cx="3840480" cy="32004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800" b="1">
                <a:solidFill>
                  <a:srgbClr val="0F172A"/>
                </a:solidFill>
                <a:latin typeface="Arial"/>
              </a:rPr>
              <a:t>Perguntas orientadoras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49808" y="4160520"/>
            <a:ext cx="10241280" cy="1417320"/>
          </a:xfrm>
          <a:prstGeom prst="rect">
            <a:avLst/>
          </a:prstGeom>
          <a:noFill/>
        </p:spPr>
        <p:txBody>
          <a:bodyPr wrap="square" lIns="109728" rIns="73152" tIns="36576" bIns="36576">
            <a:spAutoFit/>
          </a:bodyPr>
          <a:lstStyle/>
          <a:p>
            <a:pPr>
              <a:lnSpc>
                <a:spcPct val="108000"/>
              </a:lnSpc>
              <a:spcAft>
                <a:spcPts val="800"/>
              </a:spcAft>
              <a:defRPr sz="1600">
                <a:solidFill>
                  <a:srgbClr val="334155"/>
                </a:solidFill>
                <a:latin typeface="Arial"/>
              </a:defRPr>
            </a:pPr>
            <a:r>
              <a:t>• Quais técnicas são aplicadas à educação matemática?</a:t>
            </a:r>
          </a:p>
          <a:p>
            <a:pPr>
              <a:lnSpc>
                <a:spcPct val="108000"/>
              </a:lnSpc>
              <a:spcAft>
                <a:spcPts val="800"/>
              </a:spcAft>
              <a:defRPr sz="1600">
                <a:solidFill>
                  <a:srgbClr val="334155"/>
                </a:solidFill>
                <a:latin typeface="Arial"/>
              </a:defRPr>
            </a:pPr>
            <a:r>
              <a:t>• Como essas aplicações são avaliadas nos contextos estudados?</a:t>
            </a:r>
          </a:p>
          <a:p>
            <a:pPr>
              <a:lnSpc>
                <a:spcPct val="108000"/>
              </a:lnSpc>
              <a:spcAft>
                <a:spcPts val="800"/>
              </a:spcAft>
              <a:defRPr sz="1600">
                <a:solidFill>
                  <a:srgbClr val="334155"/>
                </a:solidFill>
                <a:latin typeface="Arial"/>
              </a:defRPr>
            </a:pPr>
            <a:r>
              <a:t>• Quais lacunas e limitações aparecem na literatura?</a:t>
            </a:r>
          </a:p>
          <a:p>
            <a:pPr>
              <a:lnSpc>
                <a:spcPct val="108000"/>
              </a:lnSpc>
              <a:spcAft>
                <a:spcPts val="800"/>
              </a:spcAft>
              <a:defRPr sz="1600">
                <a:solidFill>
                  <a:srgbClr val="334155"/>
                </a:solidFill>
                <a:latin typeface="Arial"/>
              </a:defRPr>
            </a:pPr>
            <a:r>
              <a:t>• Que requisitos podem orientar uma ferramenta de apoio?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cc-title"/>
          <p:cNvSpPr txBox="1"/>
          <p:nvPr/>
        </p:nvSpPr>
        <p:spPr>
          <a:xfrm>
            <a:off x="502920" y="256032"/>
            <a:ext cx="10698480" cy="658368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3000" b="1">
                <a:solidFill>
                  <a:srgbClr val="0A0A0A"/>
                </a:solidFill>
                <a:latin typeface="Arial"/>
              </a:rPr>
              <a:t>Objetivos específicos</a:t>
            </a:r>
          </a:p>
        </p:txBody>
      </p:sp>
      <p:sp>
        <p:nvSpPr>
          <p:cNvPr id="3" name="Rectangle 2"/>
          <p:cNvSpPr/>
          <p:nvPr/>
        </p:nvSpPr>
        <p:spPr>
          <a:xfrm>
            <a:off x="685800" y="1143000"/>
            <a:ext cx="5166360" cy="86868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85800" y="1143000"/>
            <a:ext cx="59436" cy="86868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68680" y="1197864"/>
            <a:ext cx="4892040" cy="384048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1">
                <a:solidFill>
                  <a:srgbClr val="0F0F0F"/>
                </a:solidFill>
                <a:latin typeface="Arial"/>
              </a:rPr>
              <a:t>OE1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68680" y="1600200"/>
            <a:ext cx="4892040" cy="347473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50" b="0">
                <a:solidFill>
                  <a:srgbClr val="232323"/>
                </a:solidFill>
                <a:latin typeface="Arial"/>
              </a:rPr>
              <a:t>Revisão sistemática, relatada com apoio do PRISMA 2020, sobre estudos de 2015–2026.</a:t>
            </a:r>
          </a:p>
        </p:txBody>
      </p:sp>
      <p:sp>
        <p:nvSpPr>
          <p:cNvPr id="7" name="Rectangle 6"/>
          <p:cNvSpPr/>
          <p:nvPr/>
        </p:nvSpPr>
        <p:spPr>
          <a:xfrm>
            <a:off x="685800" y="2286000"/>
            <a:ext cx="5166360" cy="86868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85800" y="2286000"/>
            <a:ext cx="59436" cy="86868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8680" y="2340864"/>
            <a:ext cx="4892040" cy="384048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1">
                <a:solidFill>
                  <a:srgbClr val="0F0F0F"/>
                </a:solidFill>
                <a:latin typeface="Arial"/>
              </a:rPr>
              <a:t>OE2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8680" y="2743200"/>
            <a:ext cx="4892040" cy="347473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50" b="0">
                <a:solidFill>
                  <a:srgbClr val="232323"/>
                </a:solidFill>
                <a:latin typeface="Arial"/>
              </a:rPr>
              <a:t>Identificação e categorização das abordagens computacionais.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85800" y="3429000"/>
            <a:ext cx="5166360" cy="86868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85800" y="3429000"/>
            <a:ext cx="59436" cy="86868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68680" y="3483864"/>
            <a:ext cx="4892040" cy="384048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1">
                <a:solidFill>
                  <a:srgbClr val="0F0F0F"/>
                </a:solidFill>
                <a:latin typeface="Arial"/>
              </a:rPr>
              <a:t>OE3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68680" y="3886200"/>
            <a:ext cx="4892040" cy="347473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50" b="0">
                <a:solidFill>
                  <a:srgbClr val="232323"/>
                </a:solidFill>
                <a:latin typeface="Arial"/>
              </a:rPr>
              <a:t>Classificação das finalidades pedagógicas das aplicações.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85800" y="4572000"/>
            <a:ext cx="5166360" cy="86868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85800" y="4572000"/>
            <a:ext cx="59436" cy="86868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68680" y="4626864"/>
            <a:ext cx="4892040" cy="384048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1">
                <a:solidFill>
                  <a:srgbClr val="0F0F0F"/>
                </a:solidFill>
                <a:latin typeface="Arial"/>
              </a:rPr>
              <a:t>OE4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68680" y="5029200"/>
            <a:ext cx="4892040" cy="347473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50" b="0">
                <a:solidFill>
                  <a:srgbClr val="232323"/>
                </a:solidFill>
                <a:latin typeface="Arial"/>
              </a:rPr>
              <a:t>Análise crítica das metodologias e limitações dos estudos.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309360" y="1143000"/>
            <a:ext cx="5166360" cy="1143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6309360" y="1143000"/>
            <a:ext cx="59436" cy="1143000"/>
          </a:xfrm>
          <a:prstGeom prst="rect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492240" y="1197864"/>
            <a:ext cx="4892040" cy="384048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1">
                <a:solidFill>
                  <a:srgbClr val="0F0F0F"/>
                </a:solidFill>
                <a:latin typeface="Arial"/>
              </a:rPr>
              <a:t>OE5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92240" y="1600200"/>
            <a:ext cx="4892040" cy="621793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50" b="0">
                <a:solidFill>
                  <a:srgbClr val="232323"/>
                </a:solidFill>
                <a:latin typeface="Arial"/>
              </a:rPr>
              <a:t>Mapeamento de lacunas técnicas, pedagógicas, metodológicas e éticas.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309360" y="2560320"/>
            <a:ext cx="5166360" cy="1143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6309360" y="2560320"/>
            <a:ext cx="59436" cy="1143000"/>
          </a:xfrm>
          <a:prstGeom prst="rect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92240" y="2615184"/>
            <a:ext cx="4892040" cy="384048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1">
                <a:solidFill>
                  <a:srgbClr val="0F0F0F"/>
                </a:solidFill>
                <a:latin typeface="Arial"/>
              </a:rPr>
              <a:t>OE6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492240" y="3017520"/>
            <a:ext cx="4892040" cy="621793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50" b="0">
                <a:solidFill>
                  <a:srgbClr val="232323"/>
                </a:solidFill>
                <a:latin typeface="Arial"/>
              </a:rPr>
              <a:t>Manutenção de um pipeline automatizado e auditável para coleta, processamento e exportação.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309360" y="3977639"/>
            <a:ext cx="5166360" cy="1143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6309360" y="3977639"/>
            <a:ext cx="59436" cy="1143000"/>
          </a:xfrm>
          <a:prstGeom prst="rect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492240" y="4032503"/>
            <a:ext cx="4892040" cy="384048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1">
                <a:solidFill>
                  <a:srgbClr val="0F0F0F"/>
                </a:solidFill>
                <a:latin typeface="Arial"/>
              </a:rPr>
              <a:t>OE7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492240" y="4434839"/>
            <a:ext cx="4892040" cy="621793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50" b="0">
                <a:solidFill>
                  <a:srgbClr val="232323"/>
                </a:solidFill>
                <a:latin typeface="Arial"/>
              </a:rPr>
              <a:t>Derivação de requisitos, critérios de dados e modelos, protocolo de avaliação e arquitetura de referência.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14400" y="5897880"/>
            <a:ext cx="10287000" cy="384048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400" b="0">
                <a:solidFill>
                  <a:srgbClr val="64748B"/>
                </a:solidFill>
                <a:latin typeface="Arial"/>
              </a:rPr>
              <a:t>A apresentação distingue objetivos executados de atividades que permanecem fora do escopo, como implementação funcional e validação com participantes.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cc-title"/>
          <p:cNvSpPr txBox="1"/>
          <p:nvPr/>
        </p:nvSpPr>
        <p:spPr>
          <a:xfrm>
            <a:off x="502920" y="256032"/>
            <a:ext cx="10698480" cy="658368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3000" b="1">
                <a:solidFill>
                  <a:srgbClr val="0A0A0A"/>
                </a:solidFill>
                <a:latin typeface="Arial"/>
              </a:rPr>
              <a:t>A base conceitual: quatro níveis de interpretação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960120"/>
            <a:ext cx="10698480" cy="50292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900" b="1">
                <a:solidFill>
                  <a:srgbClr val="0F172A"/>
                </a:solidFill>
                <a:latin typeface="Arial"/>
              </a:rPr>
              <a:t>A revisão pode reconhecer padrões; ela não observa diretamente todos os processos cognitivos e sociais envolvidos na aprendizagem.</a:t>
            </a:r>
          </a:p>
        </p:txBody>
      </p:sp>
      <p:sp>
        <p:nvSpPr>
          <p:cNvPr id="4" name="Rectangle 3"/>
          <p:cNvSpPr/>
          <p:nvPr/>
        </p:nvSpPr>
        <p:spPr>
          <a:xfrm>
            <a:off x="658368" y="1874519"/>
            <a:ext cx="2514600" cy="20574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58368" y="1874519"/>
            <a:ext cx="59436" cy="205740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41248" y="1929383"/>
            <a:ext cx="2240280" cy="384048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700" b="1">
                <a:solidFill>
                  <a:srgbClr val="0F0F0F"/>
                </a:solidFill>
                <a:latin typeface="Arial"/>
              </a:rPr>
              <a:t>Desempenho
observado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41248" y="2331719"/>
            <a:ext cx="2240280" cy="1536193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0">
                <a:solidFill>
                  <a:srgbClr val="232323"/>
                </a:solidFill>
                <a:latin typeface="Arial"/>
              </a:rPr>
              <a:t>Registro de uma tarefa: acerto, nota, tentativa, estratégia ou tempo.</a:t>
            </a:r>
          </a:p>
        </p:txBody>
      </p:sp>
      <p:sp>
        <p:nvSpPr>
          <p:cNvPr id="8" name="Rectangle 7"/>
          <p:cNvSpPr/>
          <p:nvPr/>
        </p:nvSpPr>
        <p:spPr>
          <a:xfrm>
            <a:off x="3511296" y="1874519"/>
            <a:ext cx="2514600" cy="20574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3511296" y="1874519"/>
            <a:ext cx="59436" cy="2057400"/>
          </a:xfrm>
          <a:prstGeom prst="rect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694176" y="1929383"/>
            <a:ext cx="2240280" cy="384048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700" b="1">
                <a:solidFill>
                  <a:srgbClr val="0F0F0F"/>
                </a:solidFill>
                <a:latin typeface="Arial"/>
              </a:rPr>
              <a:t>Proficiência
estimada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694176" y="2331719"/>
            <a:ext cx="2240280" cy="1536193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0">
                <a:solidFill>
                  <a:srgbClr val="232323"/>
                </a:solidFill>
                <a:latin typeface="Arial"/>
              </a:rPr>
              <a:t>Inferência sobre uma escala de conhecimentos e habilidades.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364224" y="1874519"/>
            <a:ext cx="2514600" cy="20574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364224" y="1874519"/>
            <a:ext cx="59436" cy="2057400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547104" y="1929383"/>
            <a:ext cx="2240280" cy="384048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700" b="1">
                <a:solidFill>
                  <a:srgbClr val="0F0F0F"/>
                </a:solidFill>
                <a:latin typeface="Arial"/>
              </a:rPr>
              <a:t>Competência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547104" y="2331719"/>
            <a:ext cx="2240280" cy="1536193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0">
                <a:solidFill>
                  <a:srgbClr val="232323"/>
                </a:solidFill>
                <a:latin typeface="Arial"/>
              </a:rPr>
              <a:t>Mobilização integrada de conhecimentos, procedimentos, estratégias e atitudes.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9217152" y="1874519"/>
            <a:ext cx="2514600" cy="20574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9217152" y="1874519"/>
            <a:ext cx="59436" cy="2057400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400032" y="1929383"/>
            <a:ext cx="2240280" cy="384048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700" b="1">
                <a:solidFill>
                  <a:srgbClr val="0F0F0F"/>
                </a:solidFill>
                <a:latin typeface="Arial"/>
              </a:rPr>
              <a:t>Aprendizagem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400032" y="2331719"/>
            <a:ext cx="2240280" cy="1536193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0">
                <a:solidFill>
                  <a:srgbClr val="232323"/>
                </a:solidFill>
                <a:latin typeface="Arial"/>
              </a:rPr>
              <a:t>Transformação construída ao longo do tempo, com compreensão, autonomia e transferência.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371600" y="4572000"/>
            <a:ext cx="9418320" cy="822960"/>
          </a:xfrm>
          <a:prstGeom prst="round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600200" y="4800600"/>
            <a:ext cx="8961120" cy="32004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800" b="1">
                <a:solidFill>
                  <a:srgbClr val="FFFFFF"/>
                </a:solidFill>
                <a:latin typeface="Arial"/>
              </a:rPr>
              <a:t>Princípio de interpretação: a saída computacional apoia a análise docente; não constitui diagnóstico definitivo.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cc-title"/>
          <p:cNvSpPr txBox="1"/>
          <p:nvPr/>
        </p:nvSpPr>
        <p:spPr>
          <a:xfrm>
            <a:off x="502920" y="256032"/>
            <a:ext cx="10698480" cy="658368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3000" b="1">
                <a:solidFill>
                  <a:srgbClr val="0A0A0A"/>
                </a:solidFill>
                <a:latin typeface="Arial"/>
              </a:rPr>
              <a:t>Desenho metodológico</a:t>
            </a:r>
          </a:p>
        </p:txBody>
      </p:sp>
      <p:sp>
        <p:nvSpPr>
          <p:cNvPr id="3" name="Rectangle 2"/>
          <p:cNvSpPr/>
          <p:nvPr/>
        </p:nvSpPr>
        <p:spPr>
          <a:xfrm>
            <a:off x="658368" y="1097280"/>
            <a:ext cx="5074920" cy="9601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58368" y="1097280"/>
            <a:ext cx="59436" cy="96012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41248" y="1152144"/>
            <a:ext cx="4800600" cy="384048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1">
                <a:solidFill>
                  <a:srgbClr val="0F0F0F"/>
                </a:solidFill>
                <a:latin typeface="Arial"/>
              </a:rPr>
              <a:t>PRISMA 2020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41248" y="1554480"/>
            <a:ext cx="4800600" cy="438913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50" b="0">
                <a:solidFill>
                  <a:srgbClr val="232323"/>
                </a:solidFill>
                <a:latin typeface="Arial"/>
              </a:rPr>
              <a:t>Diretriz de relato transparente da revisão.</a:t>
            </a:r>
          </a:p>
        </p:txBody>
      </p:sp>
      <p:sp>
        <p:nvSpPr>
          <p:cNvPr id="7" name="Rectangle 6"/>
          <p:cNvSpPr/>
          <p:nvPr/>
        </p:nvSpPr>
        <p:spPr>
          <a:xfrm>
            <a:off x="6281928" y="1097280"/>
            <a:ext cx="5074920" cy="9601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281928" y="1097280"/>
            <a:ext cx="59436" cy="960120"/>
          </a:xfrm>
          <a:prstGeom prst="rect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64808" y="1152144"/>
            <a:ext cx="4800600" cy="384048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1">
                <a:solidFill>
                  <a:srgbClr val="0F0F0F"/>
                </a:solidFill>
                <a:latin typeface="Arial"/>
              </a:rPr>
              <a:t>PICOS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64808" y="1554480"/>
            <a:ext cx="4800600" cy="438913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50" b="0">
                <a:solidFill>
                  <a:srgbClr val="232323"/>
                </a:solidFill>
                <a:latin typeface="Arial"/>
              </a:rPr>
              <a:t>População, intervenção, comparação, resultados e desenho.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58368" y="2331720"/>
            <a:ext cx="5074920" cy="9601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58368" y="2331720"/>
            <a:ext cx="59436" cy="960120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41248" y="2386584"/>
            <a:ext cx="4800600" cy="384048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1">
                <a:solidFill>
                  <a:srgbClr val="0F0F0F"/>
                </a:solidFill>
                <a:latin typeface="Arial"/>
              </a:rPr>
              <a:t>4 fontes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41248" y="2788920"/>
            <a:ext cx="4800600" cy="438913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50" b="0">
                <a:solidFill>
                  <a:srgbClr val="232323"/>
                </a:solidFill>
                <a:latin typeface="Arial"/>
              </a:rPr>
              <a:t>Semantic Scholar, OpenAlex, Crossref e CORE.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281928" y="2331720"/>
            <a:ext cx="5074920" cy="9601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281928" y="2331720"/>
            <a:ext cx="59436" cy="960120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464808" y="2386584"/>
            <a:ext cx="4800600" cy="384048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1">
                <a:solidFill>
                  <a:srgbClr val="0F0F0F"/>
                </a:solidFill>
                <a:latin typeface="Arial"/>
              </a:rPr>
              <a:t>Escopo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64808" y="2788920"/>
            <a:ext cx="4800600" cy="438913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50" b="0">
                <a:solidFill>
                  <a:srgbClr val="232323"/>
                </a:solidFill>
                <a:latin typeface="Arial"/>
              </a:rPr>
              <a:t>Inglês/português · 2015–2026 · corte em 31/08/2026.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85800" y="4069080"/>
            <a:ext cx="10789920" cy="1234440"/>
          </a:xfrm>
          <a:prstGeom prst="roundRect">
            <a:avLst/>
          </a:prstGeom>
          <a:solidFill>
            <a:srgbClr val="EFF6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14400" y="4297680"/>
            <a:ext cx="2286000" cy="27432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1">
                <a:solidFill>
                  <a:srgbClr val="2563EB"/>
                </a:solidFill>
                <a:latin typeface="Arial"/>
              </a:rPr>
              <a:t>Estratégia canônica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14400" y="4617720"/>
            <a:ext cx="9966960" cy="41148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700" b="0">
                <a:solidFill>
                  <a:srgbClr val="334155"/>
                </a:solidFill>
                <a:latin typeface="Arial"/>
              </a:rPr>
              <a:t>72 consultas compostas (48 em inglês + 24 em português), combinando domínio matemático, técnica computacional e contexto educacional.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14400" y="5102352"/>
            <a:ext cx="9966960" cy="32004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0">
                <a:solidFill>
                  <a:srgbClr val="64748B"/>
                </a:solidFill>
                <a:latin typeface="Arial"/>
              </a:rPr>
              <a:t>O número descreve a composição versionada da estratégia; não é uma contagem retrospectiva de chamadas HTTP concluídas, pois não há log histórico completo.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cc-title"/>
          <p:cNvSpPr txBox="1"/>
          <p:nvPr/>
        </p:nvSpPr>
        <p:spPr>
          <a:xfrm>
            <a:off x="502920" y="256032"/>
            <a:ext cx="10698480" cy="658368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3000" b="1">
                <a:solidFill>
                  <a:srgbClr val="0A0A0A"/>
                </a:solidFill>
                <a:latin typeface="Arial"/>
              </a:rPr>
              <a:t>Do registro bruto à população retida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960120"/>
            <a:ext cx="4572000" cy="27432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800" b="1">
                <a:solidFill>
                  <a:srgbClr val="0F172A"/>
                </a:solidFill>
                <a:latin typeface="Arial"/>
              </a:rPr>
              <a:t>Contagens do snapshot adjudicado</a:t>
            </a:r>
          </a:p>
        </p:txBody>
      </p:sp>
      <p:sp>
        <p:nvSpPr>
          <p:cNvPr id="4" name="Rectangle 3"/>
          <p:cNvSpPr/>
          <p:nvPr/>
        </p:nvSpPr>
        <p:spPr>
          <a:xfrm>
            <a:off x="685800" y="1463040"/>
            <a:ext cx="1828800" cy="13716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85800" y="1463040"/>
            <a:ext cx="1828800" cy="50292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1581912"/>
            <a:ext cx="1828800" cy="438912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2400" b="1">
                <a:solidFill>
                  <a:srgbClr val="0F0F0F"/>
                </a:solidFill>
                <a:latin typeface="Arial"/>
              </a:rPr>
              <a:t>11.904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2084832"/>
            <a:ext cx="1645920" cy="713232"/>
          </a:xfrm>
          <a:prstGeom prst="rect">
            <a:avLst/>
          </a:prstGeom>
          <a:noFill/>
        </p:spPr>
        <p:txBody>
          <a:bodyPr wrap="square" lIns="54864" rIns="54864" tIns="54864" bIns="54864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050" b="0">
                <a:solidFill>
                  <a:srgbClr val="232323"/>
                </a:solidFill>
                <a:latin typeface="Arial"/>
              </a:rPr>
              <a:t>registros identificados</a:t>
            </a:r>
          </a:p>
        </p:txBody>
      </p:sp>
      <p:sp>
        <p:nvSpPr>
          <p:cNvPr id="8" name="Rectangle 7"/>
          <p:cNvSpPr/>
          <p:nvPr/>
        </p:nvSpPr>
        <p:spPr>
          <a:xfrm>
            <a:off x="2880360" y="1463040"/>
            <a:ext cx="1828800" cy="13716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2880360" y="1463040"/>
            <a:ext cx="1828800" cy="50292"/>
          </a:xfrm>
          <a:prstGeom prst="rect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880360" y="1581912"/>
            <a:ext cx="1828800" cy="438912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2400" b="1">
                <a:solidFill>
                  <a:srgbClr val="0F0F0F"/>
                </a:solidFill>
                <a:latin typeface="Arial"/>
              </a:rPr>
              <a:t>27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971800" y="2084832"/>
            <a:ext cx="1645920" cy="713232"/>
          </a:xfrm>
          <a:prstGeom prst="rect">
            <a:avLst/>
          </a:prstGeom>
          <a:noFill/>
        </p:spPr>
        <p:txBody>
          <a:bodyPr wrap="square" lIns="54864" rIns="54864" tIns="54864" bIns="54864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050" b="0">
                <a:solidFill>
                  <a:srgbClr val="232323"/>
                </a:solidFill>
                <a:latin typeface="Arial"/>
              </a:rPr>
              <a:t>remoções por identidade
25 DOI + 2 URL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074920" y="1463040"/>
            <a:ext cx="1828800" cy="13716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5074920" y="1463040"/>
            <a:ext cx="1828800" cy="50292"/>
          </a:xfrm>
          <a:prstGeom prst="rect">
            <a:avLst/>
          </a:prstGeom>
          <a:solidFill>
            <a:srgbClr val="16A3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074920" y="1581912"/>
            <a:ext cx="1828800" cy="438912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2400" b="1">
                <a:solidFill>
                  <a:srgbClr val="0F0F0F"/>
                </a:solidFill>
                <a:latin typeface="Arial"/>
              </a:rPr>
              <a:t>11.877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166360" y="2084832"/>
            <a:ext cx="1645920" cy="713232"/>
          </a:xfrm>
          <a:prstGeom prst="rect">
            <a:avLst/>
          </a:prstGeom>
          <a:noFill/>
        </p:spPr>
        <p:txBody>
          <a:bodyPr wrap="square" lIns="54864" rIns="54864" tIns="54864" bIns="54864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050" b="0">
                <a:solidFill>
                  <a:srgbClr val="232323"/>
                </a:solidFill>
                <a:latin typeface="Arial"/>
              </a:rPr>
              <a:t>registros na triagem</a:t>
            </a:r>
          </a:p>
        </p:txBody>
      </p:sp>
      <p:sp>
        <p:nvSpPr>
          <p:cNvPr id="16" name="Rectangle 15"/>
          <p:cNvSpPr/>
          <p:nvPr/>
        </p:nvSpPr>
        <p:spPr>
          <a:xfrm>
            <a:off x="7269480" y="1463040"/>
            <a:ext cx="1828800" cy="13716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7269480" y="1463040"/>
            <a:ext cx="1828800" cy="50292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269480" y="1581912"/>
            <a:ext cx="1828800" cy="438912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2400" b="1">
                <a:solidFill>
                  <a:srgbClr val="0F0F0F"/>
                </a:solidFill>
                <a:latin typeface="Arial"/>
              </a:rPr>
              <a:t>9.391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360920" y="2084832"/>
            <a:ext cx="1645920" cy="713232"/>
          </a:xfrm>
          <a:prstGeom prst="rect">
            <a:avLst/>
          </a:prstGeom>
          <a:noFill/>
        </p:spPr>
        <p:txBody>
          <a:bodyPr wrap="square" lIns="54864" rIns="54864" tIns="54864" bIns="54864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050" b="0">
                <a:solidFill>
                  <a:srgbClr val="232323"/>
                </a:solidFill>
                <a:latin typeface="Arial"/>
              </a:rPr>
              <a:t>excluídos na triagem</a:t>
            </a:r>
          </a:p>
        </p:txBody>
      </p:sp>
      <p:sp>
        <p:nvSpPr>
          <p:cNvPr id="20" name="Rectangle 19"/>
          <p:cNvSpPr/>
          <p:nvPr/>
        </p:nvSpPr>
        <p:spPr>
          <a:xfrm>
            <a:off x="1783080" y="3794760"/>
            <a:ext cx="1828800" cy="13716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1783080" y="3794760"/>
            <a:ext cx="1828800" cy="50292"/>
          </a:xfrm>
          <a:prstGeom prst="rect">
            <a:avLst/>
          </a:prstGeom>
          <a:solidFill>
            <a:srgbClr val="EA58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783080" y="3913632"/>
            <a:ext cx="1828800" cy="438912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2400" b="1">
                <a:solidFill>
                  <a:srgbClr val="0F0F0F"/>
                </a:solidFill>
                <a:latin typeface="Arial"/>
              </a:rPr>
              <a:t>2.486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874520" y="4416552"/>
            <a:ext cx="1645920" cy="713232"/>
          </a:xfrm>
          <a:prstGeom prst="rect">
            <a:avLst/>
          </a:prstGeom>
          <a:noFill/>
        </p:spPr>
        <p:txBody>
          <a:bodyPr wrap="square" lIns="54864" rIns="54864" tIns="54864" bIns="54864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050" b="0">
                <a:solidFill>
                  <a:srgbClr val="232323"/>
                </a:solidFill>
                <a:latin typeface="Arial"/>
              </a:rPr>
              <a:t>na elegibilidade</a:t>
            </a:r>
          </a:p>
        </p:txBody>
      </p:sp>
      <p:sp>
        <p:nvSpPr>
          <p:cNvPr id="24" name="Rectangle 23"/>
          <p:cNvSpPr/>
          <p:nvPr/>
        </p:nvSpPr>
        <p:spPr>
          <a:xfrm>
            <a:off x="3977639" y="3794760"/>
            <a:ext cx="1828800" cy="13716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3977639" y="3794760"/>
            <a:ext cx="1828800" cy="50292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3977639" y="3913632"/>
            <a:ext cx="1828800" cy="438912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2400" b="1">
                <a:solidFill>
                  <a:srgbClr val="0F0F0F"/>
                </a:solidFill>
                <a:latin typeface="Arial"/>
              </a:rPr>
              <a:t>2.468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069079" y="4416552"/>
            <a:ext cx="1645920" cy="713232"/>
          </a:xfrm>
          <a:prstGeom prst="rect">
            <a:avLst/>
          </a:prstGeom>
          <a:noFill/>
        </p:spPr>
        <p:txBody>
          <a:bodyPr wrap="square" lIns="54864" rIns="54864" tIns="54864" bIns="54864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050" b="0">
                <a:solidFill>
                  <a:srgbClr val="232323"/>
                </a:solidFill>
                <a:latin typeface="Arial"/>
              </a:rPr>
              <a:t>excluídos na elegibilidade</a:t>
            </a:r>
          </a:p>
        </p:txBody>
      </p:sp>
      <p:sp>
        <p:nvSpPr>
          <p:cNvPr id="28" name="Rectangle 27"/>
          <p:cNvSpPr/>
          <p:nvPr/>
        </p:nvSpPr>
        <p:spPr>
          <a:xfrm>
            <a:off x="6172200" y="3794760"/>
            <a:ext cx="1828800" cy="13716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6172200" y="3794760"/>
            <a:ext cx="1828800" cy="50292"/>
          </a:xfrm>
          <a:prstGeom prst="rect">
            <a:avLst/>
          </a:prstGeom>
          <a:solidFill>
            <a:srgbClr val="4F46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172200" y="3913632"/>
            <a:ext cx="1828800" cy="438912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2400" b="1">
                <a:solidFill>
                  <a:srgbClr val="0F0F0F"/>
                </a:solidFill>
                <a:latin typeface="Arial"/>
              </a:rPr>
              <a:t>18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263640" y="4416552"/>
            <a:ext cx="1645920" cy="713232"/>
          </a:xfrm>
          <a:prstGeom prst="rect">
            <a:avLst/>
          </a:prstGeom>
          <a:noFill/>
        </p:spPr>
        <p:txBody>
          <a:bodyPr wrap="square" lIns="54864" rIns="54864" tIns="54864" bIns="54864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050" b="0">
                <a:solidFill>
                  <a:srgbClr val="232323"/>
                </a:solidFill>
                <a:latin typeface="Arial"/>
              </a:rPr>
              <a:t>retidos operacionalmente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05840" y="5669280"/>
            <a:ext cx="10058400" cy="32004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400" b="0">
                <a:solidFill>
                  <a:srgbClr val="64748B"/>
                </a:solidFill>
                <a:latin typeface="Arial"/>
              </a:rPr>
              <a:t>A remoção determinística por DOI/URL precede a triagem. Igualdade de título permaneceu como candidato à auditoria semântica.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cc-title"/>
          <p:cNvSpPr txBox="1"/>
          <p:nvPr/>
        </p:nvSpPr>
        <p:spPr>
          <a:xfrm>
            <a:off x="502920" y="256032"/>
            <a:ext cx="10698480" cy="658368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3000" b="1">
                <a:solidFill>
                  <a:srgbClr val="0A0A0A"/>
                </a:solidFill>
                <a:latin typeface="Arial"/>
              </a:rPr>
              <a:t>Fluxo PRISMA do snapshot</a:t>
            </a:r>
          </a:p>
        </p:txBody>
      </p:sp>
      <p:pic>
        <p:nvPicPr>
          <p:cNvPr id="3" name="prisma_flow.png" descr="prisma_flow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59571" y="960120"/>
            <a:ext cx="7488097" cy="521208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914400" y="6172200"/>
            <a:ext cx="10287000" cy="22860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150" b="0">
                <a:solidFill>
                  <a:srgbClr val="64748B"/>
                </a:solidFill>
                <a:latin typeface="Arial"/>
              </a:rPr>
              <a:t>Figura versionada e sincronizada com os artefatos públicos do pipeline.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cc-title"/>
          <p:cNvSpPr txBox="1"/>
          <p:nvPr/>
        </p:nvSpPr>
        <p:spPr>
          <a:xfrm>
            <a:off x="502920" y="256032"/>
            <a:ext cx="10698480" cy="658368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3000" b="1">
                <a:solidFill>
                  <a:srgbClr val="0A0A0A"/>
                </a:solidFill>
                <a:latin typeface="Arial"/>
              </a:rPr>
              <a:t>Deduplicação: o que foi confirmado</a:t>
            </a:r>
          </a:p>
        </p:txBody>
      </p:sp>
      <p:pic>
        <p:nvPicPr>
          <p:cNvPr id="3" name="selection_funnel.png" descr="selection_funne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9878"/>
            <a:ext cx="5623560" cy="3741123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6537960" y="1234440"/>
            <a:ext cx="4754880" cy="1143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537960" y="1234440"/>
            <a:ext cx="59436" cy="1143000"/>
          </a:xfrm>
          <a:prstGeom prst="rect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720840" y="1289304"/>
            <a:ext cx="4480560" cy="384048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1">
                <a:solidFill>
                  <a:srgbClr val="0F0F0F"/>
                </a:solidFill>
                <a:latin typeface="Arial"/>
              </a:rPr>
              <a:t>Confirmadas no fluxo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720840" y="1691640"/>
            <a:ext cx="4480560" cy="621793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0">
                <a:solidFill>
                  <a:srgbClr val="232323"/>
                </a:solidFill>
                <a:latin typeface="Arial"/>
              </a:rPr>
              <a:t>27 linhas excedentes por identidade bibliográfica determinística: 25 DOI normalizado e 2 URL exata.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37960" y="2697480"/>
            <a:ext cx="4754880" cy="1143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537960" y="2697480"/>
            <a:ext cx="59436" cy="1143000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720840" y="2752344"/>
            <a:ext cx="4480560" cy="384048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1">
                <a:solidFill>
                  <a:srgbClr val="0F0F0F"/>
                </a:solidFill>
                <a:latin typeface="Arial"/>
              </a:rPr>
              <a:t>Mantidas para auditoria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720840" y="3154680"/>
            <a:ext cx="4480560" cy="621793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0">
                <a:solidFill>
                  <a:srgbClr val="232323"/>
                </a:solidFill>
                <a:latin typeface="Arial"/>
              </a:rPr>
              <a:t>232 excedentes apenas por título normalizado permaneceram como candidatos a revisão semântica.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537960" y="4160520"/>
            <a:ext cx="4754880" cy="123444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537960" y="4160520"/>
            <a:ext cx="59436" cy="123444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720840" y="4215384"/>
            <a:ext cx="4480560" cy="384048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1">
                <a:solidFill>
                  <a:srgbClr val="0F0F0F"/>
                </a:solidFill>
                <a:latin typeface="Arial"/>
              </a:rPr>
              <a:t>Leitura científica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720840" y="4617720"/>
            <a:ext cx="4480560" cy="713233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50" b="0">
                <a:solidFill>
                  <a:srgbClr val="232323"/>
                </a:solidFill>
                <a:latin typeface="Arial"/>
              </a:rPr>
              <a:t>Títulos semelhantes podem ser versões, erratas ou obras distintas. Por isso, não foram tratados automaticamente como duplicatas confirmadas.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cc-title"/>
          <p:cNvSpPr txBox="1"/>
          <p:nvPr/>
        </p:nvSpPr>
        <p:spPr>
          <a:xfrm>
            <a:off x="502920" y="256032"/>
            <a:ext cx="10698480" cy="658368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3000" b="1">
                <a:solidFill>
                  <a:srgbClr val="0A0A0A"/>
                </a:solidFill>
                <a:latin typeface="Arial"/>
              </a:rPr>
              <a:t>Panorama descritivo do snapshot</a:t>
            </a:r>
          </a:p>
        </p:txBody>
      </p:sp>
      <p:pic>
        <p:nvPicPr>
          <p:cNvPr id="3" name="techniques_distribution.png" descr="techniques_distribu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12714" y="1188720"/>
            <a:ext cx="7095612" cy="470916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8092440" y="1234440"/>
            <a:ext cx="3200400" cy="27432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700" b="1">
                <a:solidFill>
                  <a:srgbClr val="0F172A"/>
                </a:solidFill>
                <a:latin typeface="Arial"/>
              </a:rPr>
              <a:t>Frequências mais recorrentes</a:t>
            </a:r>
          </a:p>
        </p:txBody>
      </p:sp>
      <p:sp>
        <p:nvSpPr>
          <p:cNvPr id="5" name="Rectangle 4"/>
          <p:cNvSpPr/>
          <p:nvPr/>
        </p:nvSpPr>
        <p:spPr>
          <a:xfrm>
            <a:off x="8138160" y="1691640"/>
            <a:ext cx="3017520" cy="86868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138160" y="1691640"/>
            <a:ext cx="3017520" cy="50292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138160" y="1810512"/>
            <a:ext cx="3017520" cy="438912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2100" b="1">
                <a:solidFill>
                  <a:srgbClr val="0F0F0F"/>
                </a:solidFill>
                <a:latin typeface="Arial"/>
              </a:rPr>
              <a:t>6.399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0" y="2313432"/>
            <a:ext cx="2834640" cy="210312"/>
          </a:xfrm>
          <a:prstGeom prst="rect">
            <a:avLst/>
          </a:prstGeom>
          <a:noFill/>
        </p:spPr>
        <p:txBody>
          <a:bodyPr wrap="square" lIns="54864" rIns="54864" tIns="54864" bIns="54864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050" b="0">
                <a:solidFill>
                  <a:srgbClr val="232323"/>
                </a:solidFill>
                <a:latin typeface="Arial"/>
              </a:rPr>
              <a:t>técnica não especificada</a:t>
            </a:r>
          </a:p>
        </p:txBody>
      </p:sp>
      <p:sp>
        <p:nvSpPr>
          <p:cNvPr id="9" name="Rectangle 8"/>
          <p:cNvSpPr/>
          <p:nvPr/>
        </p:nvSpPr>
        <p:spPr>
          <a:xfrm>
            <a:off x="8138160" y="2697480"/>
            <a:ext cx="3017520" cy="86868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8138160" y="2697480"/>
            <a:ext cx="3017520" cy="50292"/>
          </a:xfrm>
          <a:prstGeom prst="rect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138160" y="2816352"/>
            <a:ext cx="3017520" cy="438912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2100" b="1">
                <a:solidFill>
                  <a:srgbClr val="0F0F0F"/>
                </a:solidFill>
                <a:latin typeface="Arial"/>
              </a:rPr>
              <a:t>1.073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229600" y="3319272"/>
            <a:ext cx="2834640" cy="210312"/>
          </a:xfrm>
          <a:prstGeom prst="rect">
            <a:avLst/>
          </a:prstGeom>
          <a:noFill/>
        </p:spPr>
        <p:txBody>
          <a:bodyPr wrap="square" lIns="54864" rIns="54864" tIns="54864" bIns="54864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050" b="0">
                <a:solidFill>
                  <a:srgbClr val="232323"/>
                </a:solidFill>
                <a:latin typeface="Arial"/>
              </a:rPr>
              <a:t>assessment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138160" y="3703320"/>
            <a:ext cx="3017520" cy="86868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8138160" y="3703320"/>
            <a:ext cx="3017520" cy="50292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138160" y="3822192"/>
            <a:ext cx="3017520" cy="438912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2100" b="1">
                <a:solidFill>
                  <a:srgbClr val="0F0F0F"/>
                </a:solidFill>
                <a:latin typeface="Arial"/>
              </a:rPr>
              <a:t>863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29600" y="4325112"/>
            <a:ext cx="2834640" cy="210312"/>
          </a:xfrm>
          <a:prstGeom prst="rect">
            <a:avLst/>
          </a:prstGeom>
          <a:noFill/>
        </p:spPr>
        <p:txBody>
          <a:bodyPr wrap="square" lIns="54864" rIns="54864" tIns="54864" bIns="54864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050" b="0">
                <a:solidFill>
                  <a:srgbClr val="232323"/>
                </a:solidFill>
                <a:latin typeface="Arial"/>
              </a:rPr>
              <a:t>IA / inteligência artificial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138160" y="4709160"/>
            <a:ext cx="3017520" cy="86868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8138160" y="4709160"/>
            <a:ext cx="3017520" cy="50292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138160" y="4828032"/>
            <a:ext cx="3017520" cy="438912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2100" b="1">
                <a:solidFill>
                  <a:srgbClr val="0F0F0F"/>
                </a:solidFill>
                <a:latin typeface="Arial"/>
              </a:rPr>
              <a:t>771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29600" y="5330952"/>
            <a:ext cx="2834640" cy="210312"/>
          </a:xfrm>
          <a:prstGeom prst="rect">
            <a:avLst/>
          </a:prstGeom>
          <a:noFill/>
        </p:spPr>
        <p:txBody>
          <a:bodyPr wrap="square" lIns="54864" rIns="54864" tIns="54864" bIns="54864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050" b="0">
                <a:solidFill>
                  <a:srgbClr val="232323"/>
                </a:solidFill>
                <a:latin typeface="Arial"/>
              </a:rPr>
              <a:t>machine learning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31520" y="6080760"/>
            <a:ext cx="10698480" cy="27432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100" b="0">
                <a:solidFill>
                  <a:srgbClr val="64748B"/>
                </a:solidFill>
                <a:latin typeface="Arial"/>
              </a:rPr>
              <a:t>As categorias podem se sobrepor e são calculadas sobre os 11.877 registros após a remoção determinística. Não representam qualidade ou eficácia.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cc-title"/>
          <p:cNvSpPr txBox="1"/>
          <p:nvPr/>
        </p:nvSpPr>
        <p:spPr>
          <a:xfrm>
            <a:off x="502920" y="256032"/>
            <a:ext cx="10698480" cy="658368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3000" b="1">
                <a:solidFill>
                  <a:srgbClr val="0A0A0A"/>
                </a:solidFill>
                <a:latin typeface="Arial"/>
              </a:rPr>
              <a:t>Distribuição temporal e fontes</a:t>
            </a:r>
          </a:p>
        </p:txBody>
      </p:sp>
      <p:pic>
        <p:nvPicPr>
          <p:cNvPr id="3" name="papers_by_year.png" descr="papers_by_yea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275734"/>
            <a:ext cx="5486400" cy="2203412"/>
          </a:xfrm>
          <a:prstGeom prst="rect">
            <a:avLst/>
          </a:prstGeom>
        </p:spPr>
      </p:pic>
      <p:pic>
        <p:nvPicPr>
          <p:cNvPr id="4" name="database_coverage.png" descr="database_cover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72200" y="1230414"/>
            <a:ext cx="5486400" cy="2294051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777240" y="3977639"/>
            <a:ext cx="5166360" cy="105156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77240" y="3977639"/>
            <a:ext cx="59436" cy="105156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60120" y="4032503"/>
            <a:ext cx="4892040" cy="384048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1">
                <a:solidFill>
                  <a:srgbClr val="0F0F0F"/>
                </a:solidFill>
                <a:latin typeface="Arial"/>
              </a:rPr>
              <a:t>Período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0120" y="4434839"/>
            <a:ext cx="4892040" cy="530353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50" b="0">
                <a:solidFill>
                  <a:srgbClr val="232323"/>
                </a:solidFill>
                <a:latin typeface="Arial"/>
              </a:rPr>
              <a:t>O snapshot foi delimitado a 2015–2026, com data de corte em 31 de agosto de 2026. Como 2026 é parcial, sua barra não deve ser comparada diretamente com anos completos.</a:t>
            </a:r>
          </a:p>
        </p:txBody>
      </p:sp>
      <p:sp>
        <p:nvSpPr>
          <p:cNvPr id="9" name="Rectangle 8"/>
          <p:cNvSpPr/>
          <p:nvPr/>
        </p:nvSpPr>
        <p:spPr>
          <a:xfrm>
            <a:off x="6355080" y="3977639"/>
            <a:ext cx="5074920" cy="105156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355080" y="3977639"/>
            <a:ext cx="59436" cy="1051560"/>
          </a:xfrm>
          <a:prstGeom prst="rect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537960" y="4032503"/>
            <a:ext cx="4800600" cy="384048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1">
                <a:solidFill>
                  <a:srgbClr val="0F0F0F"/>
                </a:solidFill>
                <a:latin typeface="Arial"/>
              </a:rPr>
              <a:t>Fontes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37960" y="4434839"/>
            <a:ext cx="4800600" cy="530353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50" b="0">
                <a:solidFill>
                  <a:srgbClr val="232323"/>
                </a:solidFill>
                <a:latin typeface="Arial"/>
              </a:rPr>
              <a:t>As quatro fontes foram complementares; os totais brutos incluem registros posteriormente reconhecidos como duplicatas.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4400" y="5806440"/>
            <a:ext cx="10241280" cy="27432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300" b="0">
                <a:solidFill>
                  <a:srgbClr val="64748B"/>
                </a:solidFill>
                <a:latin typeface="Arial"/>
              </a:rPr>
              <a:t>Visualizações descritivas: não inferem representatividade, qualidade ou efeito pedagógico.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cc-title"/>
          <p:cNvSpPr txBox="1"/>
          <p:nvPr/>
        </p:nvSpPr>
        <p:spPr>
          <a:xfrm>
            <a:off x="502920" y="256032"/>
            <a:ext cx="10698480" cy="658368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3000" b="1">
                <a:solidFill>
                  <a:srgbClr val="0A0A0A"/>
                </a:solidFill>
                <a:latin typeface="Arial"/>
              </a:rPr>
              <a:t>População retida e síntese empírica</a:t>
            </a:r>
          </a:p>
        </p:txBody>
      </p:sp>
      <p:sp>
        <p:nvSpPr>
          <p:cNvPr id="3" name="Rectangle 2"/>
          <p:cNvSpPr/>
          <p:nvPr/>
        </p:nvSpPr>
        <p:spPr>
          <a:xfrm>
            <a:off x="777240" y="1234440"/>
            <a:ext cx="2926080" cy="123444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777240" y="1234440"/>
            <a:ext cx="2926080" cy="50292"/>
          </a:xfrm>
          <a:prstGeom prst="rect">
            <a:avLst/>
          </a:prstGeom>
          <a:solidFill>
            <a:srgbClr val="4F46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77240" y="1353312"/>
            <a:ext cx="2926080" cy="438912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2900" b="1">
                <a:solidFill>
                  <a:srgbClr val="0F0F0F"/>
                </a:solidFill>
                <a:latin typeface="Arial"/>
              </a:rPr>
              <a:t>18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68680" y="1856232"/>
            <a:ext cx="2743200" cy="576072"/>
          </a:xfrm>
          <a:prstGeom prst="rect">
            <a:avLst/>
          </a:prstGeom>
          <a:noFill/>
        </p:spPr>
        <p:txBody>
          <a:bodyPr wrap="square" lIns="54864" rIns="54864" tIns="54864" bIns="54864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200" b="0">
                <a:solidFill>
                  <a:srgbClr val="232323"/>
                </a:solidFill>
                <a:latin typeface="Arial"/>
              </a:rPr>
              <a:t>registros retidos operacionalmente</a:t>
            </a:r>
          </a:p>
        </p:txBody>
      </p:sp>
      <p:sp>
        <p:nvSpPr>
          <p:cNvPr id="7" name="Rectangle 6"/>
          <p:cNvSpPr/>
          <p:nvPr/>
        </p:nvSpPr>
        <p:spPr>
          <a:xfrm>
            <a:off x="4526280" y="1234440"/>
            <a:ext cx="2926080" cy="123444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4526280" y="1234440"/>
            <a:ext cx="2926080" cy="50292"/>
          </a:xfrm>
          <a:prstGeom prst="rect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526280" y="1353312"/>
            <a:ext cx="2926080" cy="438912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2900" b="1">
                <a:solidFill>
                  <a:srgbClr val="0F0F0F"/>
                </a:solidFill>
                <a:latin typeface="Arial"/>
              </a:rPr>
              <a:t>17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617720" y="1856232"/>
            <a:ext cx="2743200" cy="576072"/>
          </a:xfrm>
          <a:prstGeom prst="rect">
            <a:avLst/>
          </a:prstGeom>
          <a:noFill/>
        </p:spPr>
        <p:txBody>
          <a:bodyPr wrap="square" lIns="54864" rIns="54864" tIns="54864" bIns="54864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200" b="0">
                <a:solidFill>
                  <a:srgbClr val="232323"/>
                </a:solidFill>
                <a:latin typeface="Arial"/>
              </a:rPr>
              <a:t>candidatos empíricos provisórios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75320" y="1234440"/>
            <a:ext cx="2926080" cy="123444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275320" y="1234440"/>
            <a:ext cx="2926080" cy="50292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75320" y="1353312"/>
            <a:ext cx="2926080" cy="438912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2900" b="1">
                <a:solidFill>
                  <a:srgbClr val="0F0F0F"/>
                </a:solidFill>
                <a:latin typeface="Arial"/>
              </a:rPr>
              <a:t>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366760" y="1856232"/>
            <a:ext cx="2743200" cy="576072"/>
          </a:xfrm>
          <a:prstGeom prst="rect">
            <a:avLst/>
          </a:prstGeom>
          <a:noFill/>
        </p:spPr>
        <p:txBody>
          <a:bodyPr wrap="square" lIns="54864" rIns="54864" tIns="54864" bIns="54864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200" b="0">
                <a:solidFill>
                  <a:srgbClr val="232323"/>
                </a:solidFill>
                <a:latin typeface="Arial"/>
              </a:rPr>
              <a:t>protocolo ou proposta contextual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77240" y="3063240"/>
            <a:ext cx="5166360" cy="169164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777240" y="3063240"/>
            <a:ext cx="59436" cy="169164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60120" y="3118104"/>
            <a:ext cx="4892040" cy="384048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700" b="1">
                <a:solidFill>
                  <a:srgbClr val="0F0F0F"/>
                </a:solidFill>
                <a:latin typeface="Arial"/>
              </a:rPr>
              <a:t>O que entra na síntese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60120" y="3520440"/>
            <a:ext cx="4892040" cy="1170433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50" b="0">
                <a:solidFill>
                  <a:srgbClr val="232323"/>
                </a:solidFill>
                <a:latin typeface="Arial"/>
              </a:rPr>
              <a:t>A síntese de evidências e a apreciação MMAT aplicável consideram os 17 candidatos empíricos. O protocolo/proposta contextual foi mantido para rastreabilidade do mapeamento, mas não sustenta resultado empírico concluído.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263640" y="3063240"/>
            <a:ext cx="5166360" cy="169164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6263640" y="3063240"/>
            <a:ext cx="59436" cy="1691640"/>
          </a:xfrm>
          <a:prstGeom prst="rect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446520" y="3118104"/>
            <a:ext cx="4892040" cy="384048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700" b="1">
                <a:solidFill>
                  <a:srgbClr val="0F0F0F"/>
                </a:solidFill>
                <a:latin typeface="Arial"/>
              </a:rPr>
              <a:t>Padrão observado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46520" y="3520440"/>
            <a:ext cx="4892040" cy="1170433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50" b="0">
                <a:solidFill>
                  <a:srgbClr val="232323"/>
                </a:solidFill>
                <a:latin typeface="Arial"/>
              </a:rPr>
              <a:t>Predomínio de aplicações voltadas à predição de desempenho e à estimativa de proficiência, com recorrência de modelos supervisionados como Random Forest, SVM, árvores de decisão e redes neurais.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14400" y="5806440"/>
            <a:ext cx="10241280" cy="292608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350" b="0">
                <a:solidFill>
                  <a:srgbClr val="64748B"/>
                </a:solidFill>
                <a:latin typeface="Arial"/>
              </a:rPr>
              <a:t>Os resultados de artigos individuais permanecem condicionados à população, ao instrumento, à métrica e ao desenho de cada estudo.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cc-title"/>
          <p:cNvSpPr txBox="1"/>
          <p:nvPr/>
        </p:nvSpPr>
        <p:spPr>
          <a:xfrm>
            <a:off x="502920" y="256032"/>
            <a:ext cx="10698480" cy="658368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3000" b="1">
                <a:solidFill>
                  <a:srgbClr val="0A0A0A"/>
                </a:solidFill>
                <a:latin typeface="Arial"/>
              </a:rPr>
              <a:t>Apreciação metodológica pelo MMAT 2018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731520" y="1143000"/>
            <a:ext cx="2926080" cy="4160520"/>
          </a:xfrm>
          <a:prstGeom prst="round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60120" y="1508760"/>
            <a:ext cx="2468880" cy="41148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2700" b="1">
                <a:solidFill>
                  <a:srgbClr val="FFFFFF"/>
                </a:solidFill>
                <a:latin typeface="Arial"/>
              </a:rPr>
              <a:t>MMAT 2018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60120" y="2148840"/>
            <a:ext cx="2468880" cy="77724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900" b="1">
                <a:solidFill>
                  <a:srgbClr val="BAE6FD"/>
                </a:solidFill>
                <a:latin typeface="Arial"/>
              </a:rPr>
              <a:t>avaliação por critério
sem nota global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05840" y="3794760"/>
            <a:ext cx="2377440" cy="68580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350" b="0">
                <a:solidFill>
                  <a:srgbClr val="E2E8F0"/>
                </a:solidFill>
                <a:latin typeface="Arial"/>
              </a:rPr>
              <a:t>Instrumento aplicado conforme o desenho metodológico de cada estudo empírico.</a:t>
            </a:r>
          </a:p>
        </p:txBody>
      </p:sp>
      <p:sp>
        <p:nvSpPr>
          <p:cNvPr id="7" name="Rectangle 6"/>
          <p:cNvSpPr/>
          <p:nvPr/>
        </p:nvSpPr>
        <p:spPr>
          <a:xfrm>
            <a:off x="4160520" y="1143000"/>
            <a:ext cx="3520440" cy="14173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4160520" y="1143000"/>
            <a:ext cx="59436" cy="141732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343400" y="1197864"/>
            <a:ext cx="3246120" cy="384048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1">
                <a:solidFill>
                  <a:srgbClr val="0F0F0F"/>
                </a:solidFill>
                <a:latin typeface="Arial"/>
              </a:rPr>
              <a:t>Como foi registrado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343400" y="1600200"/>
            <a:ext cx="3246120" cy="896113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0">
                <a:solidFill>
                  <a:srgbClr val="232323"/>
                </a:solidFill>
                <a:latin typeface="Arial"/>
              </a:rPr>
              <a:t>Cinco critérios por desenho, com respostas Sim, Não ou Não é possível determinar. As limitações permanecem visíveis por estudo.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046720" y="1143000"/>
            <a:ext cx="3429000" cy="14173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046720" y="1143000"/>
            <a:ext cx="59436" cy="1417320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29600" y="1197864"/>
            <a:ext cx="3154680" cy="384048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1">
                <a:solidFill>
                  <a:srgbClr val="0F0F0F"/>
                </a:solidFill>
                <a:latin typeface="Arial"/>
              </a:rPr>
              <a:t>Estado atual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229600" y="1600200"/>
            <a:ext cx="3154680" cy="896113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0">
                <a:solidFill>
                  <a:srgbClr val="232323"/>
                </a:solidFill>
                <a:latin typeface="Arial"/>
              </a:rPr>
              <a:t>Apreciação preliminar por um único revisor: nove registros com texto primário revisado e oito com base em resumo/metadados.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160520" y="3063240"/>
            <a:ext cx="7315200" cy="14173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4160520" y="3063240"/>
            <a:ext cx="59436" cy="1417320"/>
          </a:xfrm>
          <a:prstGeom prst="rect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343400" y="3118104"/>
            <a:ext cx="7040880" cy="384048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1">
                <a:solidFill>
                  <a:srgbClr val="0F0F0F"/>
                </a:solidFill>
                <a:latin typeface="Arial"/>
              </a:rPr>
              <a:t>O que não foi feito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343400" y="3520440"/>
            <a:ext cx="7040880" cy="896113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0">
                <a:solidFill>
                  <a:srgbClr val="232323"/>
                </a:solidFill>
                <a:latin typeface="Arial"/>
              </a:rPr>
              <a:t>Não há média, ranking ou categoria agregada de qualidade. A adjudicação, os localizadores e a recuperação de fontes ainda precisam ser consolidados.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14400" y="5806440"/>
            <a:ext cx="10241280" cy="292608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400" b="0">
                <a:solidFill>
                  <a:srgbClr val="64748B"/>
                </a:solidFill>
                <a:latin typeface="Arial"/>
              </a:rPr>
              <a:t>O MMAT organiza a leitura das limitações; não transforma uma apreciação preliminar em classificação definitiva.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cc-title"/>
          <p:cNvSpPr txBox="1"/>
          <p:nvPr/>
        </p:nvSpPr>
        <p:spPr>
          <a:xfrm>
            <a:off x="502920" y="256032"/>
            <a:ext cx="10698480" cy="658368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3000" b="1">
                <a:solidFill>
                  <a:srgbClr val="0A0A0A"/>
                </a:solidFill>
                <a:latin typeface="Arial"/>
              </a:rPr>
              <a:t>O que a síntese sustenta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234440"/>
            <a:ext cx="5257800" cy="14173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731520" y="1234440"/>
            <a:ext cx="59436" cy="1417320"/>
          </a:xfrm>
          <a:prstGeom prst="rect">
            <a:avLst/>
          </a:prstGeom>
          <a:solidFill>
            <a:srgbClr val="16A3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1289304"/>
            <a:ext cx="4983480" cy="384048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700" b="1">
                <a:solidFill>
                  <a:srgbClr val="0F0F0F"/>
                </a:solidFill>
                <a:latin typeface="Arial"/>
              </a:rPr>
              <a:t>A síntese sustenta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1691640"/>
            <a:ext cx="4983480" cy="896113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0">
                <a:solidFill>
                  <a:srgbClr val="232323"/>
                </a:solidFill>
                <a:latin typeface="Arial"/>
              </a:rPr>
              <a:t>A literatura oferece um mapa auditável de técnicas, finalidades e formas de avaliação aplicadas à educação matemática.</a:t>
            </a:r>
          </a:p>
        </p:txBody>
      </p:sp>
      <p:sp>
        <p:nvSpPr>
          <p:cNvPr id="7" name="Rectangle 6"/>
          <p:cNvSpPr/>
          <p:nvPr/>
        </p:nvSpPr>
        <p:spPr>
          <a:xfrm>
            <a:off x="6217920" y="1234440"/>
            <a:ext cx="5257800" cy="14173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217920" y="1234440"/>
            <a:ext cx="59436" cy="141732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00800" y="1289304"/>
            <a:ext cx="4983480" cy="384048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700" b="1">
                <a:solidFill>
                  <a:srgbClr val="0F0F0F"/>
                </a:solidFill>
                <a:latin typeface="Arial"/>
              </a:rPr>
              <a:t>A heterogeneidade importa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0" y="1691640"/>
            <a:ext cx="4983480" cy="896113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0">
                <a:solidFill>
                  <a:srgbClr val="232323"/>
                </a:solidFill>
                <a:latin typeface="Arial"/>
              </a:rPr>
              <a:t>Populações, instrumentos, variáveis e métricas diferentes impedem comparar diretamente todos os resultados ou combiná-los em uma síntese quantitativa.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31520" y="3337560"/>
            <a:ext cx="5257800" cy="14173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31520" y="3337560"/>
            <a:ext cx="59436" cy="1417320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14400" y="3392424"/>
            <a:ext cx="4983480" cy="384048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700" b="1">
                <a:solidFill>
                  <a:srgbClr val="0F0F0F"/>
                </a:solidFill>
                <a:latin typeface="Arial"/>
              </a:rPr>
              <a:t>A síntese não sustenta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14400" y="3794760"/>
            <a:ext cx="4983480" cy="896113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0">
                <a:solidFill>
                  <a:srgbClr val="232323"/>
                </a:solidFill>
                <a:latin typeface="Arial"/>
              </a:rPr>
              <a:t>Uma técnica não pode ser declarada superior em geral, nem uma acurácia de um estudo ser transferida automaticamente para outra escola ou população.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217920" y="3337560"/>
            <a:ext cx="5257800" cy="14173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217920" y="3337560"/>
            <a:ext cx="59436" cy="1417320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400800" y="3392424"/>
            <a:ext cx="4983480" cy="384048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700" b="1">
                <a:solidFill>
                  <a:srgbClr val="0F0F0F"/>
                </a:solidFill>
                <a:latin typeface="Arial"/>
              </a:rPr>
              <a:t>Implicação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00800" y="3794760"/>
            <a:ext cx="4983480" cy="896113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0">
                <a:solidFill>
                  <a:srgbClr val="232323"/>
                </a:solidFill>
                <a:latin typeface="Arial"/>
              </a:rPr>
              <a:t>Avaliação técnica, explicabilidade, contexto curricular e interpretação docente precisam acompanhar qualquer uso futuro.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14400" y="5806440"/>
            <a:ext cx="10241280" cy="292608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500" b="1">
                <a:solidFill>
                  <a:srgbClr val="0F172A"/>
                </a:solidFill>
                <a:latin typeface="Arial"/>
              </a:rPr>
              <a:t>Desempenho reportado em um artigo não equivale a evidência geral de eficácia pedagógica.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cc-title"/>
          <p:cNvSpPr txBox="1"/>
          <p:nvPr/>
        </p:nvSpPr>
        <p:spPr>
          <a:xfrm>
            <a:off x="502920" y="256032"/>
            <a:ext cx="10698480" cy="658368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3000" b="1">
                <a:solidFill>
                  <a:srgbClr val="0A0A0A"/>
                </a:solidFill>
                <a:latin typeface="Arial"/>
              </a:rPr>
              <a:t>Lacunas documentadas</a:t>
            </a:r>
          </a:p>
        </p:txBody>
      </p:sp>
      <p:sp>
        <p:nvSpPr>
          <p:cNvPr id="3" name="Rectangle 2"/>
          <p:cNvSpPr/>
          <p:nvPr/>
        </p:nvSpPr>
        <p:spPr>
          <a:xfrm>
            <a:off x="685800" y="1143000"/>
            <a:ext cx="3337560" cy="14173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85800" y="1143000"/>
            <a:ext cx="59436" cy="141732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68680" y="1197864"/>
            <a:ext cx="3063240" cy="384048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1">
                <a:solidFill>
                  <a:srgbClr val="0F0F0F"/>
                </a:solidFill>
                <a:latin typeface="Arial"/>
              </a:rPr>
              <a:t>Explicabilidade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68680" y="1600200"/>
            <a:ext cx="3063240" cy="896113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50" b="0">
                <a:solidFill>
                  <a:srgbClr val="232323"/>
                </a:solidFill>
                <a:latin typeface="Arial"/>
              </a:rPr>
              <a:t>Pouca clareza sobre como as saídas chegam à interpretação pedagógica.</a:t>
            </a:r>
          </a:p>
        </p:txBody>
      </p:sp>
      <p:sp>
        <p:nvSpPr>
          <p:cNvPr id="7" name="Rectangle 6"/>
          <p:cNvSpPr/>
          <p:nvPr/>
        </p:nvSpPr>
        <p:spPr>
          <a:xfrm>
            <a:off x="4434840" y="1143000"/>
            <a:ext cx="3337560" cy="14173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4434840" y="1143000"/>
            <a:ext cx="59436" cy="1417320"/>
          </a:xfrm>
          <a:prstGeom prst="rect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617720" y="1197864"/>
            <a:ext cx="3063240" cy="384048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1">
                <a:solidFill>
                  <a:srgbClr val="0F0F0F"/>
                </a:solidFill>
                <a:latin typeface="Arial"/>
              </a:rPr>
              <a:t>Currículo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617720" y="1600200"/>
            <a:ext cx="3063240" cy="896113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50" b="0">
                <a:solidFill>
                  <a:srgbClr val="232323"/>
                </a:solidFill>
                <a:latin typeface="Arial"/>
              </a:rPr>
              <a:t>Alinhamento explícito com referenciais curriculares aparece de forma limitada.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183879" y="1143000"/>
            <a:ext cx="3337560" cy="14173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183879" y="1143000"/>
            <a:ext cx="59436" cy="1417320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366759" y="1197864"/>
            <a:ext cx="3063240" cy="384048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1">
                <a:solidFill>
                  <a:srgbClr val="0F0F0F"/>
                </a:solidFill>
                <a:latin typeface="Arial"/>
              </a:rPr>
              <a:t>Participação docente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366759" y="1600200"/>
            <a:ext cx="3063240" cy="896113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50" b="0">
                <a:solidFill>
                  <a:srgbClr val="232323"/>
                </a:solidFill>
                <a:latin typeface="Arial"/>
              </a:rPr>
              <a:t>Decisões de projeto nem sempre incorporam o professor como intérprete.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85800" y="2971800"/>
            <a:ext cx="3337560" cy="14173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85800" y="2971800"/>
            <a:ext cx="59436" cy="1417320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68680" y="3026664"/>
            <a:ext cx="3063240" cy="384048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1">
                <a:solidFill>
                  <a:srgbClr val="0F0F0F"/>
                </a:solidFill>
                <a:latin typeface="Arial"/>
              </a:rPr>
              <a:t>Equidade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68680" y="3429000"/>
            <a:ext cx="3063240" cy="896113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50" b="0">
                <a:solidFill>
                  <a:srgbClr val="232323"/>
                </a:solidFill>
                <a:latin typeface="Arial"/>
              </a:rPr>
              <a:t>Análises de possíveis vieses e diferenças entre grupos são escassas.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434840" y="2971800"/>
            <a:ext cx="3337560" cy="14173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4434840" y="2971800"/>
            <a:ext cx="59436" cy="1417320"/>
          </a:xfrm>
          <a:prstGeom prst="rect">
            <a:avLst/>
          </a:prstGeom>
          <a:solidFill>
            <a:srgbClr val="EA58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617720" y="3026664"/>
            <a:ext cx="3063240" cy="384048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1">
                <a:solidFill>
                  <a:srgbClr val="0F0F0F"/>
                </a:solidFill>
                <a:latin typeface="Arial"/>
              </a:rPr>
              <a:t>Reprodutibilidade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617720" y="3429000"/>
            <a:ext cx="3063240" cy="896113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50" b="0">
                <a:solidFill>
                  <a:srgbClr val="232323"/>
                </a:solidFill>
                <a:latin typeface="Arial"/>
              </a:rPr>
              <a:t>Dados, códigos e detalhes de preparação nem sempre estão disponíveis.</a:t>
            </a:r>
          </a:p>
        </p:txBody>
      </p:sp>
      <p:sp>
        <p:nvSpPr>
          <p:cNvPr id="23" name="Rectangle 22"/>
          <p:cNvSpPr/>
          <p:nvPr/>
        </p:nvSpPr>
        <p:spPr>
          <a:xfrm>
            <a:off x="8183879" y="2971800"/>
            <a:ext cx="3337560" cy="14173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8183879" y="2971800"/>
            <a:ext cx="59436" cy="1417320"/>
          </a:xfrm>
          <a:prstGeom prst="rect">
            <a:avLst/>
          </a:prstGeom>
          <a:solidFill>
            <a:srgbClr val="4F46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366759" y="3026664"/>
            <a:ext cx="3063240" cy="384048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1">
                <a:solidFill>
                  <a:srgbClr val="0F0F0F"/>
                </a:solidFill>
                <a:latin typeface="Arial"/>
              </a:rPr>
              <a:t>Contexto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366759" y="3429000"/>
            <a:ext cx="3063240" cy="896113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50" b="0">
                <a:solidFill>
                  <a:srgbClr val="232323"/>
                </a:solidFill>
                <a:latin typeface="Arial"/>
              </a:rPr>
              <a:t>Validações permanecem restritas a populações e cenários específicos.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14400" y="5806440"/>
            <a:ext cx="10241280" cy="292608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400" b="0">
                <a:solidFill>
                  <a:srgbClr val="64748B"/>
                </a:solidFill>
                <a:latin typeface="Arial"/>
              </a:rPr>
              <a:t>Essas lacunas foram tratadas como requisitos de projeto — não como prova de que uma solução futura será eficaz.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cc-title"/>
          <p:cNvSpPr txBox="1"/>
          <p:nvPr/>
        </p:nvSpPr>
        <p:spPr>
          <a:xfrm>
            <a:off x="502920" y="256032"/>
            <a:ext cx="10698480" cy="658368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3000" b="1">
                <a:solidFill>
                  <a:srgbClr val="0A0A0A"/>
                </a:solidFill>
                <a:latin typeface="Arial"/>
              </a:rPr>
              <a:t>Da evidência à especificação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874519"/>
            <a:ext cx="2011680" cy="18288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02920" y="1874519"/>
            <a:ext cx="59436" cy="182880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85800" y="1929383"/>
            <a:ext cx="1737360" cy="384048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1">
                <a:solidFill>
                  <a:srgbClr val="0F0F0F"/>
                </a:solidFill>
                <a:latin typeface="Arial"/>
              </a:rPr>
              <a:t>Evidências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2331719"/>
            <a:ext cx="1737360" cy="1307593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0">
                <a:solidFill>
                  <a:srgbClr val="232323"/>
                </a:solidFill>
                <a:latin typeface="Arial"/>
              </a:rPr>
              <a:t>revisão + fundamentação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542032" y="2487168"/>
            <a:ext cx="347472" cy="32004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2400" b="1">
                <a:solidFill>
                  <a:srgbClr val="64748B"/>
                </a:solidFill>
                <a:latin typeface="Arial"/>
              </a:rPr>
              <a:t>→</a:t>
            </a:r>
          </a:p>
        </p:txBody>
      </p:sp>
      <p:sp>
        <p:nvSpPr>
          <p:cNvPr id="8" name="Rectangle 7"/>
          <p:cNvSpPr/>
          <p:nvPr/>
        </p:nvSpPr>
        <p:spPr>
          <a:xfrm>
            <a:off x="2834639" y="1874519"/>
            <a:ext cx="2011680" cy="18288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2834639" y="1874519"/>
            <a:ext cx="59436" cy="1828800"/>
          </a:xfrm>
          <a:prstGeom prst="rect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017519" y="1929383"/>
            <a:ext cx="1737360" cy="384048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1">
                <a:solidFill>
                  <a:srgbClr val="0F0F0F"/>
                </a:solidFill>
                <a:latin typeface="Arial"/>
              </a:rPr>
              <a:t>Lacunas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017519" y="2331719"/>
            <a:ext cx="1737360" cy="1307593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0">
                <a:solidFill>
                  <a:srgbClr val="232323"/>
                </a:solidFill>
                <a:latin typeface="Arial"/>
              </a:rPr>
              <a:t>técnicas, pedagógicas, metodológicas e éticas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873752" y="2487168"/>
            <a:ext cx="347472" cy="32004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2400" b="1">
                <a:solidFill>
                  <a:srgbClr val="64748B"/>
                </a:solidFill>
                <a:latin typeface="Arial"/>
              </a:rPr>
              <a:t>→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166359" y="1874519"/>
            <a:ext cx="2011680" cy="18288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5166359" y="1874519"/>
            <a:ext cx="59436" cy="1828800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349239" y="1929383"/>
            <a:ext cx="1737360" cy="384048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1">
                <a:solidFill>
                  <a:srgbClr val="0F0F0F"/>
                </a:solidFill>
                <a:latin typeface="Arial"/>
              </a:rPr>
              <a:t>Requisitos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349239" y="2331719"/>
            <a:ext cx="1737360" cy="1307593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0">
                <a:solidFill>
                  <a:srgbClr val="232323"/>
                </a:solidFill>
                <a:latin typeface="Arial"/>
              </a:rPr>
              <a:t>funcionais e não funcionais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205471" y="2487168"/>
            <a:ext cx="347472" cy="32004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2400" b="1">
                <a:solidFill>
                  <a:srgbClr val="64748B"/>
                </a:solidFill>
                <a:latin typeface="Arial"/>
              </a:rPr>
              <a:t>→</a:t>
            </a:r>
          </a:p>
        </p:txBody>
      </p:sp>
      <p:sp>
        <p:nvSpPr>
          <p:cNvPr id="18" name="Rectangle 17"/>
          <p:cNvSpPr/>
          <p:nvPr/>
        </p:nvSpPr>
        <p:spPr>
          <a:xfrm>
            <a:off x="7498079" y="1874519"/>
            <a:ext cx="2011680" cy="18288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7498079" y="1874519"/>
            <a:ext cx="59436" cy="1828800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680959" y="1929383"/>
            <a:ext cx="1737360" cy="384048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1">
                <a:solidFill>
                  <a:srgbClr val="0F0F0F"/>
                </a:solidFill>
                <a:latin typeface="Arial"/>
              </a:rPr>
              <a:t>Protocolo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680959" y="2331719"/>
            <a:ext cx="1737360" cy="1307593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0">
                <a:solidFill>
                  <a:srgbClr val="232323"/>
                </a:solidFill>
                <a:latin typeface="Arial"/>
              </a:rPr>
              <a:t>dados, modelos, métricas e limites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537192" y="2487168"/>
            <a:ext cx="347472" cy="32004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2400" b="1">
                <a:solidFill>
                  <a:srgbClr val="64748B"/>
                </a:solidFill>
                <a:latin typeface="Arial"/>
              </a:rPr>
              <a:t>→</a:t>
            </a:r>
          </a:p>
        </p:txBody>
      </p:sp>
      <p:sp>
        <p:nvSpPr>
          <p:cNvPr id="23" name="Rectangle 22"/>
          <p:cNvSpPr/>
          <p:nvPr/>
        </p:nvSpPr>
        <p:spPr>
          <a:xfrm>
            <a:off x="9829800" y="1874519"/>
            <a:ext cx="2011680" cy="18288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9829800" y="1874519"/>
            <a:ext cx="59436" cy="1828800"/>
          </a:xfrm>
          <a:prstGeom prst="rect">
            <a:avLst/>
          </a:prstGeom>
          <a:solidFill>
            <a:srgbClr val="4F46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012680" y="1929383"/>
            <a:ext cx="1737360" cy="384048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1">
                <a:solidFill>
                  <a:srgbClr val="0F0F0F"/>
                </a:solidFill>
                <a:latin typeface="Arial"/>
              </a:rPr>
              <a:t>Arquitetura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012680" y="2331719"/>
            <a:ext cx="1737360" cy="1307593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0">
                <a:solidFill>
                  <a:srgbClr val="232323"/>
                </a:solidFill>
                <a:latin typeface="Arial"/>
              </a:rPr>
              <a:t>referência conceitual auditável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1234440" y="4617720"/>
            <a:ext cx="9646920" cy="731520"/>
          </a:xfrm>
          <a:prstGeom prst="round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1508760" y="4846320"/>
            <a:ext cx="9098280" cy="27432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700" b="1">
                <a:solidFill>
                  <a:srgbClr val="FFFFFF"/>
                </a:solidFill>
                <a:latin typeface="Arial"/>
              </a:rPr>
              <a:t>O resultado é uma especificação conceitual: documentada, verificável e coerente com o escopo executado.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cc-title"/>
          <p:cNvSpPr txBox="1"/>
          <p:nvPr/>
        </p:nvSpPr>
        <p:spPr>
          <a:xfrm>
            <a:off x="502920" y="256032"/>
            <a:ext cx="10698480" cy="658368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3000" b="1">
                <a:solidFill>
                  <a:srgbClr val="0A0A0A"/>
                </a:solidFill>
                <a:latin typeface="Arial"/>
              </a:rPr>
              <a:t>Especificação conceitual do protótipo</a:t>
            </a:r>
          </a:p>
        </p:txBody>
      </p:sp>
      <p:pic>
        <p:nvPicPr>
          <p:cNvPr id="3" name="arquitetura_prototipo.png" descr="arquitetura_prototip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4360" y="1204540"/>
            <a:ext cx="5806440" cy="467751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6720840" y="1143000"/>
            <a:ext cx="4023360" cy="32004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800" b="1">
                <a:solidFill>
                  <a:srgbClr val="0F172A"/>
                </a:solidFill>
                <a:latin typeface="Arial"/>
              </a:rPr>
              <a:t>Componentes previstos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720840" y="1600200"/>
            <a:ext cx="4572000" cy="2240280"/>
          </a:xfrm>
          <a:prstGeom prst="rect">
            <a:avLst/>
          </a:prstGeom>
          <a:noFill/>
        </p:spPr>
        <p:txBody>
          <a:bodyPr wrap="square" lIns="109728" rIns="73152" tIns="36576" bIns="36576">
            <a:spAutoFit/>
          </a:bodyPr>
          <a:lstStyle/>
          <a:p>
            <a:pPr>
              <a:lnSpc>
                <a:spcPct val="108000"/>
              </a:lnSpc>
              <a:spcAft>
                <a:spcPts val="800"/>
              </a:spcAft>
              <a:defRPr sz="1550">
                <a:solidFill>
                  <a:srgbClr val="334155"/>
                </a:solidFill>
                <a:latin typeface="Arial"/>
              </a:defRPr>
            </a:pPr>
            <a:r>
              <a:t>• ingestão e validação das fontes</a:t>
            </a:r>
          </a:p>
          <a:p>
            <a:pPr>
              <a:lnSpc>
                <a:spcPct val="108000"/>
              </a:lnSpc>
              <a:spcAft>
                <a:spcPts val="800"/>
              </a:spcAft>
              <a:defRPr sz="1550">
                <a:solidFill>
                  <a:srgbClr val="334155"/>
                </a:solidFill>
                <a:latin typeface="Arial"/>
              </a:defRPr>
            </a:pPr>
            <a:r>
              <a:t>• preparação e documentação das variáveis</a:t>
            </a:r>
          </a:p>
          <a:p>
            <a:pPr>
              <a:lnSpc>
                <a:spcPct val="108000"/>
              </a:lnSpc>
              <a:spcAft>
                <a:spcPts val="800"/>
              </a:spcAft>
              <a:defRPr sz="1550">
                <a:solidFill>
                  <a:srgbClr val="334155"/>
                </a:solidFill>
                <a:latin typeface="Arial"/>
              </a:defRPr>
            </a:pPr>
            <a:r>
              <a:t>• modelagem e comparação de alternativas</a:t>
            </a:r>
          </a:p>
          <a:p>
            <a:pPr>
              <a:lnSpc>
                <a:spcPct val="108000"/>
              </a:lnSpc>
              <a:spcAft>
                <a:spcPts val="800"/>
              </a:spcAft>
              <a:defRPr sz="1550">
                <a:solidFill>
                  <a:srgbClr val="334155"/>
                </a:solidFill>
                <a:latin typeface="Arial"/>
              </a:defRPr>
            </a:pPr>
            <a:r>
              <a:t>• avaliação, explicabilidade e análise de erros</a:t>
            </a:r>
          </a:p>
          <a:p>
            <a:pPr>
              <a:lnSpc>
                <a:spcPct val="108000"/>
              </a:lnSpc>
              <a:spcAft>
                <a:spcPts val="800"/>
              </a:spcAft>
              <a:defRPr sz="1550">
                <a:solidFill>
                  <a:srgbClr val="334155"/>
                </a:solidFill>
                <a:latin typeface="Arial"/>
              </a:defRPr>
            </a:pPr>
            <a:r>
              <a:t>• apresentação para interpretação docente</a:t>
            </a:r>
          </a:p>
        </p:txBody>
      </p:sp>
      <p:sp>
        <p:nvSpPr>
          <p:cNvPr id="6" name="Rectangle 5"/>
          <p:cNvSpPr/>
          <p:nvPr/>
        </p:nvSpPr>
        <p:spPr>
          <a:xfrm>
            <a:off x="6720840" y="4251960"/>
            <a:ext cx="4572000" cy="123444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720840" y="4251960"/>
            <a:ext cx="59436" cy="1234440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903720" y="4306824"/>
            <a:ext cx="4297680" cy="384048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1">
                <a:solidFill>
                  <a:srgbClr val="0F0F0F"/>
                </a:solidFill>
                <a:latin typeface="Arial"/>
              </a:rPr>
              <a:t>Limite do artefato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903720" y="4709160"/>
            <a:ext cx="4297680" cy="713233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0">
                <a:solidFill>
                  <a:srgbClr val="232323"/>
                </a:solidFill>
                <a:latin typeface="Arial"/>
              </a:rPr>
              <a:t>Não é uma aplicação funcional: não houve treinamento com uma base definitiva, métricas próprias ou validação com participantes.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cc-title"/>
          <p:cNvSpPr txBox="1"/>
          <p:nvPr/>
        </p:nvSpPr>
        <p:spPr>
          <a:xfrm>
            <a:off x="502920" y="256032"/>
            <a:ext cx="10698480" cy="658368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3000" b="1">
                <a:solidFill>
                  <a:srgbClr val="0A0A0A"/>
                </a:solidFill>
                <a:latin typeface="Arial"/>
              </a:rPr>
              <a:t>Contribuições e limites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143000"/>
            <a:ext cx="5257800" cy="283464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731520" y="1143000"/>
            <a:ext cx="59436" cy="2834640"/>
          </a:xfrm>
          <a:prstGeom prst="rect">
            <a:avLst/>
          </a:prstGeom>
          <a:solidFill>
            <a:srgbClr val="16A3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1197864"/>
            <a:ext cx="4983480" cy="384048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800" b="1">
                <a:solidFill>
                  <a:srgbClr val="0F0F0F"/>
                </a:solidFill>
                <a:latin typeface="Arial"/>
              </a:rPr>
              <a:t>Contribuições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1600200"/>
            <a:ext cx="4983480" cy="2313433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0">
                <a:solidFill>
                  <a:srgbClr val="232323"/>
                </a:solidFill>
                <a:latin typeface="Arial"/>
              </a:rPr>
              <a:t>• síntese estruturada da literatura
• pipeline automatizado e versionado
• separação entre relevância e avaliação metodológica
• especificação técnica e pedagógica auditável</a:t>
            </a:r>
          </a:p>
        </p:txBody>
      </p:sp>
      <p:sp>
        <p:nvSpPr>
          <p:cNvPr id="7" name="Rectangle 6"/>
          <p:cNvSpPr/>
          <p:nvPr/>
        </p:nvSpPr>
        <p:spPr>
          <a:xfrm>
            <a:off x="6217920" y="1143000"/>
            <a:ext cx="5257800" cy="283464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217920" y="1143000"/>
            <a:ext cx="59436" cy="2834640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00800" y="1197864"/>
            <a:ext cx="4983480" cy="384048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800" b="1">
                <a:solidFill>
                  <a:srgbClr val="0F0F0F"/>
                </a:solidFill>
                <a:latin typeface="Arial"/>
              </a:rPr>
              <a:t>Limites assumidos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0" y="1600200"/>
            <a:ext cx="4983480" cy="2313433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0">
                <a:solidFill>
                  <a:srgbClr val="232323"/>
                </a:solidFill>
                <a:latin typeface="Arial"/>
              </a:rPr>
              <a:t>• um único pesquisador
• parte da apreciação baseada em resumo/metadados
• fontes e idiomas delimitados
• MMAT preliminar
• sem aplicação funcional ou eficácia pedagógica própria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4617720"/>
            <a:ext cx="1828800" cy="32004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900" b="1">
                <a:solidFill>
                  <a:srgbClr val="0F172A"/>
                </a:solidFill>
                <a:latin typeface="Arial"/>
              </a:rPr>
              <a:t>Conclusão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" y="5074920"/>
            <a:ext cx="10469880" cy="64008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900" b="1">
                <a:solidFill>
                  <a:srgbClr val="334155"/>
                </a:solidFill>
                <a:latin typeface="Arial"/>
              </a:rPr>
              <a:t>O trabalho respondeu ao escopo ao articular revisão sistemática, fundamentação pedagógica, apreciação metodológica e especificação conceitual — mantendo o professor no centro da interpretação.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cc-title"/>
          <p:cNvSpPr txBox="1"/>
          <p:nvPr/>
        </p:nvSpPr>
        <p:spPr>
          <a:xfrm>
            <a:off x="640080" y="1600200"/>
            <a:ext cx="10881360" cy="73152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4200" b="1">
                <a:solidFill>
                  <a:srgbClr val="FFFFFF"/>
                </a:solidFill>
                <a:latin typeface="Arial"/>
              </a:rPr>
              <a:t>Obrigado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2560320"/>
            <a:ext cx="10332720" cy="41148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2300" b="0">
                <a:solidFill>
                  <a:srgbClr val="BAE6FD"/>
                </a:solidFill>
                <a:latin typeface="Arial"/>
              </a:rPr>
              <a:t>Perguntas e discussão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80" y="3977639"/>
            <a:ext cx="9966960" cy="73152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2000" b="1">
                <a:solidFill>
                  <a:srgbClr val="FFFFFF"/>
                </a:solidFill>
                <a:latin typeface="Arial"/>
              </a:rPr>
              <a:t>Ensino Personalizado de Matemática
Oportunidades e Técnicas Computacionais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7280" y="5303520"/>
            <a:ext cx="9966960" cy="502920"/>
          </a:xfrm>
          <a:prstGeom prst="rect">
            <a:avLst/>
          </a:prstGeom>
          <a:noFill/>
        </p:spPr>
        <p:txBody>
          <a:bodyPr wrap="square" lIns="54864" rIns="54864" tIns="54864" bIns="54864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250" b="0">
                <a:solidFill>
                  <a:srgbClr val="E2E8F0"/>
                </a:solidFill>
                <a:latin typeface="Arial"/>
              </a:rPr>
              <a:t>Thales Ferreira Batista · Ciência da Computação · IFC Videira
Snapshot adjudicado: 03/09/2026 · recorte temporal: 2015–2026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Ensino Personalizado de Matemática — Apresentação do TCC</dc:title>
  <dc:subject>Revisão sistemática da literatura e especificação conceitual de protótipo</dc:subject>
  <dc:creator>Thales Ferreira Batista</dc:creator>
  <cp:keywords/>
  <dc:description>Gerado por scripts/generate_tcc_presentation.py a partir dos artefatos versionados do TCC.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