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6217920"/>
            <a:ext cx="12006072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640080"/>
            <a:ext cx="54864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0D9488"/>
                </a:solidFill>
                <a:latin typeface="Aptos"/>
              </a:rPr>
              <a:t>TRABALHO DE CONCLUSÃO DE CURSO</a:t>
            </a:r>
          </a:p>
        </p:txBody>
      </p:sp>
      <p:sp>
        <p:nvSpPr>
          <p:cNvPr id="5" name="tcc-title"/>
          <p:cNvSpPr txBox="1"/>
          <p:nvPr/>
        </p:nvSpPr>
        <p:spPr>
          <a:xfrm>
            <a:off x="731520" y="1234440"/>
            <a:ext cx="758952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Aptos"/>
              </a:rPr>
              <a:t>Ensino Personalizado
de Matemática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788920"/>
            <a:ext cx="7680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BAE6FD"/>
                </a:solidFill>
                <a:latin typeface="Aptos"/>
              </a:rPr>
              <a:t>Oportunidades e Técnicas Computacionais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3383280"/>
            <a:ext cx="685800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E2E8F0"/>
                </a:solidFill>
                <a:latin typeface="Aptos"/>
              </a:rPr>
              <a:t>Revisão sistemática da literatura e especificação conceitual de protótipo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663440"/>
            <a:ext cx="6035040" cy="8229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Aptos"/>
              </a:rPr>
              <a:t>Thales Ferreira Batista
Prof. Dr. Rafael Zanin · Orientador
Prof. Dr. Manassés Ribeiro · Coorientador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4800600"/>
            <a:ext cx="3063240" cy="56692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E2E8F0"/>
                </a:solidFill>
                <a:latin typeface="Aptos"/>
              </a:rPr>
              <a:t>IFC · Videira
Snapshot adjudicado: 03/09/2026 · recorte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O problema de pesquisa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ptos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3429000" cy="15544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8229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2103120"/>
            <a:ext cx="3154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ptos"/>
              </a:rPr>
              <a:t>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50592"/>
            <a:ext cx="315468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Conhecimentos prévios, ritmos e dificuldades variam entre estudantes e ao longo do tempo.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429000" cy="155448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011680"/>
            <a:ext cx="8229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103120"/>
            <a:ext cx="3154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9488"/>
                </a:solidFill>
                <a:latin typeface="Aptos"/>
              </a:rPr>
              <a:t>Oportunidade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450592"/>
            <a:ext cx="315468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Técnicas computacionais podem organizar registros, revelar padrões e apoiar o acompanhamento.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011680"/>
            <a:ext cx="3429000" cy="155448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011680"/>
            <a:ext cx="8229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2103120"/>
            <a:ext cx="3154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Aptos"/>
              </a:rPr>
              <a:t>Responsabilidade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2" y="2450592"/>
            <a:ext cx="315468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ptos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Questão 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6583680" cy="19202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43000"/>
            <a:ext cx="8229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234440"/>
            <a:ext cx="6309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563EB"/>
                </a:solidFill>
                <a:latin typeface="Aptos"/>
              </a:rPr>
              <a:t>Problema de pesquisa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581912"/>
            <a:ext cx="6309360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Aptos"/>
              </a:rPr>
              <a:t>Como identificar e sintetizar, por meio de revisão sistemática, as principais técnicas computacionais aplicadas ao ensino de matemática e converter essas evidências em uma especificação de protótipo que apoie o professor?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143000"/>
            <a:ext cx="3931920" cy="192024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1143000"/>
            <a:ext cx="8229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08392" y="1234440"/>
            <a:ext cx="36576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D9488"/>
                </a:solidFill>
                <a:latin typeface="Aptos"/>
              </a:rPr>
              <a:t>Objetivo geral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08392" y="1581912"/>
            <a:ext cx="3657600" cy="1417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34155"/>
                </a:solidFill>
                <a:latin typeface="Aptos"/>
              </a:rPr>
              <a:t>Mapear e analisar sistematicamente as aplicações e elaborar uma especificação técnica e pedagógica para apoiar a interpretação de evidências sobre competências.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Perguntas orientadoras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ptos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ptos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ptos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ptos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Objetivos específicos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5166360" cy="8686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43000"/>
            <a:ext cx="8229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23444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OE1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581912"/>
            <a:ext cx="48920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Revisão sistemática, relatada com apoio do PRISMA 2020, sobre estudos de 2015–2026.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86000"/>
            <a:ext cx="5166360" cy="8686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286000"/>
            <a:ext cx="8229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37744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OE2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2724912"/>
            <a:ext cx="48920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Identificação e categorização das abordagens computacionais.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29000"/>
            <a:ext cx="5166360" cy="8686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29000"/>
            <a:ext cx="8229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352044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OE3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" y="3867912"/>
            <a:ext cx="48920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Classificação das finalidades pedagógicas das aplicações.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72000"/>
            <a:ext cx="5166360" cy="86868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572000"/>
            <a:ext cx="8229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466344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OE4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5010912"/>
            <a:ext cx="4892040" cy="3657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Análise crítica das metodologias e limitações dos estudos.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143000"/>
            <a:ext cx="5166360" cy="114300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143000"/>
            <a:ext cx="8229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123444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OE5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1581912"/>
            <a:ext cx="489204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Mapeamento de lacunas técnicas, pedagógicas, metodológicas e éticas.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560320"/>
            <a:ext cx="5166360" cy="114300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09360" y="2560320"/>
            <a:ext cx="8229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265176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OE6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2999232"/>
            <a:ext cx="489204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Manutenção de um pipeline automatizado e auditável para coleta, processamento e exportação.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977639"/>
            <a:ext cx="5166360" cy="114300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977639"/>
            <a:ext cx="8229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69079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OE7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416551"/>
            <a:ext cx="489204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Derivação de requisitos, critérios de dados e modelos, protocolo de avaliação e arquitetura de referência.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97880"/>
            <a:ext cx="102870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ptos"/>
              </a:rPr>
              <a:t>A apresentação distingue objetivos executados de atividades que permanecem fora do escopo, como implementação funcional e validação com participantes.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A base conceitual: quatro níveis de interpretação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ptos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2514600" cy="205740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74519"/>
            <a:ext cx="8229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65959"/>
            <a:ext cx="22402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563EB"/>
                </a:solidFill>
                <a:latin typeface="Aptos"/>
              </a:rPr>
              <a:t>Desempenho
observado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13431"/>
            <a:ext cx="2240280" cy="1554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334155"/>
                </a:solidFill>
                <a:latin typeface="Aptos"/>
              </a:rPr>
              <a:t>Registro de uma tarefa: acerto, nota, tentativa, estratégia ou tempo.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11296" y="1874519"/>
            <a:ext cx="2514600" cy="205740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11296" y="1874519"/>
            <a:ext cx="8229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1965959"/>
            <a:ext cx="22402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D9488"/>
                </a:solidFill>
                <a:latin typeface="Aptos"/>
              </a:rPr>
              <a:t>Proficiência
estimada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8" y="2313431"/>
            <a:ext cx="2240280" cy="1554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334155"/>
                </a:solidFill>
                <a:latin typeface="Aptos"/>
              </a:rPr>
              <a:t>Inferência sobre uma escala de conhecimentos e habilidades.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1874519"/>
            <a:ext cx="2514600" cy="205740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4224" y="1874519"/>
            <a:ext cx="8229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1965959"/>
            <a:ext cx="22402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C3AED"/>
                </a:solidFill>
                <a:latin typeface="Aptos"/>
              </a:rPr>
              <a:t>Competência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2313431"/>
            <a:ext cx="2240280" cy="1554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334155"/>
                </a:solidFill>
                <a:latin typeface="Aptos"/>
              </a:rPr>
              <a:t>Mobilização integrada de conhecimentos, procedimentos, estratégias e atitudes.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17152" y="1874519"/>
            <a:ext cx="2514600" cy="205740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17152" y="1874519"/>
            <a:ext cx="8229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81744" y="1965959"/>
            <a:ext cx="22402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D97706"/>
                </a:solidFill>
                <a:latin typeface="Aptos"/>
              </a:rPr>
              <a:t>Aprendizagem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313431"/>
            <a:ext cx="2240280" cy="1554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334155"/>
                </a:solidFill>
                <a:latin typeface="Aptos"/>
              </a:rPr>
              <a:t>Transformação construída ao longo do tempo, com compreensão, autonomia e transferência.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ptos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Desenho metodológico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097280"/>
            <a:ext cx="5074920" cy="9601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097280"/>
            <a:ext cx="8229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88720"/>
            <a:ext cx="48006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PRISMA 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536192"/>
            <a:ext cx="480060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Diretriz de relato transparente da revisão.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1097280"/>
            <a:ext cx="5074920" cy="96012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81928" y="1097280"/>
            <a:ext cx="8229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188720"/>
            <a:ext cx="48006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PICOS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536192"/>
            <a:ext cx="480060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População, intervenção, comparação, resultados e desenho.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331720"/>
            <a:ext cx="5074920" cy="96012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331720"/>
            <a:ext cx="8229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423160"/>
            <a:ext cx="48006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C3AED"/>
                </a:solidFill>
                <a:latin typeface="Aptos"/>
              </a:rPr>
              <a:t>4 fontes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770632"/>
            <a:ext cx="480060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Semantic Scholar, OpenAlex, Crossref e CORE.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81928" y="2331720"/>
            <a:ext cx="5074920" cy="96012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8" y="2331720"/>
            <a:ext cx="8229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423160"/>
            <a:ext cx="48006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Aptos"/>
              </a:rPr>
              <a:t>Escopo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770632"/>
            <a:ext cx="480060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Inglês/português · 2015–2026 · corte em 31/08/2026.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ptos"/>
              </a:rPr>
              <a:t>Estratégia canônica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ptos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ptos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Do registro bruto à população retida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Contagens do snapshot adjudicado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8288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934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2563EB"/>
                </a:solidFill>
                <a:latin typeface="Aptos"/>
              </a:rPr>
              <a:t>11.904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registros identificados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463040"/>
            <a:ext cx="1828800" cy="137160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0934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D9488"/>
                </a:solidFill>
                <a:latin typeface="Aptos"/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remoções por identidade
25 DOI + 2 URL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463040"/>
            <a:ext cx="1828800" cy="13716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60934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6A34A"/>
                </a:solidFill>
                <a:latin typeface="Aptos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registros na triagem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1463040"/>
            <a:ext cx="1828800" cy="13716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160934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D97706"/>
                </a:solidFill>
                <a:latin typeface="Aptos"/>
              </a:rPr>
              <a:t>9.391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excluídos na triagem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794760"/>
            <a:ext cx="1828800" cy="13716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394106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EA580C"/>
                </a:solidFill>
                <a:latin typeface="Aptos"/>
              </a:rPr>
              <a:t>2.486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na elegibilidade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77639" y="3794760"/>
            <a:ext cx="1828800" cy="13716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77639" y="394106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7C3AED"/>
                </a:solidFill>
                <a:latin typeface="Aptos"/>
              </a:rPr>
              <a:t>2.468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excluídos na elegibilidade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794760"/>
            <a:ext cx="1828800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3941064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4F46E5"/>
                </a:solidFill>
                <a:latin typeface="Aptos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retidos operacionalmente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566928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ptos"/>
              </a:rPr>
              <a:t>A remoção determinística por DOI/URL precede a triagem. Igualdade de título permaneceu como candidato à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Fluxo PRISMA do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pic>
        <p:nvPicPr>
          <p:cNvPr id="6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571" y="960120"/>
            <a:ext cx="7488097" cy="5212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ptos"/>
              </a:rPr>
              <a:t>Figura versionada e sincronizada com os artefatos públicos do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Deduplicação: o que foi confirmado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pic>
        <p:nvPicPr>
          <p:cNvPr id="6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878"/>
            <a:ext cx="5623560" cy="37411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37960" y="1234440"/>
            <a:ext cx="4754880" cy="114300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37960" y="1234440"/>
            <a:ext cx="8229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02552" y="1325880"/>
            <a:ext cx="4480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9488"/>
                </a:solidFill>
                <a:latin typeface="Aptos"/>
              </a:rPr>
              <a:t>Confirmadas no fluxo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2552" y="1673352"/>
            <a:ext cx="448056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Aptos"/>
              </a:rPr>
              <a:t>27 linhas excedentes por identidade bibliográfica determinística: 25 DOI normalizado e 2 URL exata.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697480"/>
            <a:ext cx="4754880" cy="114300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37960" y="2697480"/>
            <a:ext cx="8229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2552" y="2788920"/>
            <a:ext cx="4480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Aptos"/>
              </a:rPr>
              <a:t>Mantidas para auditoria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2552" y="3136392"/>
            <a:ext cx="448056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Aptos"/>
              </a:rPr>
              <a:t>232 excedentes apenas por título normalizado permaneceram como candidatos a revisão semântica.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4160520"/>
            <a:ext cx="4754880" cy="12344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7960" y="416052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2552" y="4251960"/>
            <a:ext cx="4480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ptos"/>
              </a:rPr>
              <a:t>Leitura científica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2552" y="4599432"/>
            <a:ext cx="44805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Panorama descritivo do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pic>
        <p:nvPicPr>
          <p:cNvPr id="6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ptos"/>
              </a:rPr>
              <a:t>Frequências mais recorrentes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91640"/>
            <a:ext cx="301752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1837944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2563EB"/>
                </a:solidFill>
                <a:latin typeface="Aptos"/>
              </a:rPr>
              <a:t>6.399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técnica não especificada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697480"/>
            <a:ext cx="3017520" cy="8686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2843784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D9488"/>
                </a:solidFill>
                <a:latin typeface="Aptos"/>
              </a:rPr>
              <a:t>1.073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assessment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703320"/>
            <a:ext cx="3017520" cy="8686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49624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7C3AED"/>
                </a:solidFill>
                <a:latin typeface="Aptos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IA / inteligência artificial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709160"/>
            <a:ext cx="3017520" cy="8686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4855464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97706"/>
                </a:solidFill>
                <a:latin typeface="Aptos"/>
              </a:rPr>
              <a:t>771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334155"/>
                </a:solidFill>
                <a:latin typeface="Aptos"/>
              </a:rPr>
              <a:t>machine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ptos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Distribuição temporal e fontes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pic>
        <p:nvPicPr>
          <p:cNvPr id="6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93434"/>
            <a:ext cx="5486400" cy="2168012"/>
          </a:xfrm>
          <a:prstGeom prst="rect">
            <a:avLst/>
          </a:prstGeom>
        </p:spPr>
      </p:pic>
      <p:pic>
        <p:nvPicPr>
          <p:cNvPr id="7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0414"/>
            <a:ext cx="5486400" cy="229405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3977639"/>
            <a:ext cx="5166360" cy="105156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977639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4069079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Período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4416551"/>
            <a:ext cx="489204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O snapshot foi delimitado a 2015–2026, com data de corte em 31 de agosto de 2026.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3977639"/>
            <a:ext cx="5074920" cy="105156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3977639"/>
            <a:ext cx="8229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4069079"/>
            <a:ext cx="48006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Fontes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416551"/>
            <a:ext cx="4800600" cy="5486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ptos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População retida e síntese empírica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234440"/>
            <a:ext cx="2926080" cy="12344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80744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4F46E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34155"/>
                </a:solidFill>
                <a:latin typeface="Aptos"/>
              </a:rPr>
              <a:t>registros retidos operacionalmente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234440"/>
            <a:ext cx="2926080" cy="123444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380744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D9488"/>
                </a:solidFill>
                <a:latin typeface="Aptos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34155"/>
                </a:solidFill>
                <a:latin typeface="Aptos"/>
              </a:rPr>
              <a:t>candidatos empíricos provisórios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234440"/>
            <a:ext cx="2926080" cy="123444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80744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D97706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334155"/>
                </a:solidFill>
                <a:latin typeface="Aptos"/>
              </a:rPr>
              <a:t>protocolo ou proposta contextual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063240"/>
            <a:ext cx="5166360" cy="169164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8229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15468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563EB"/>
                </a:solidFill>
                <a:latin typeface="Aptos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502152"/>
            <a:ext cx="4892040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334155"/>
                </a:solidFill>
                <a:latin typeface="Aptos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063240"/>
            <a:ext cx="5166360" cy="169164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8229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154680"/>
            <a:ext cx="48920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D9488"/>
                </a:solidFill>
                <a:latin typeface="Aptos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502152"/>
            <a:ext cx="4892040" cy="1188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334155"/>
                </a:solidFill>
                <a:latin typeface="Aptos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ptos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Apreciação metodológica pelo MMAT 2018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ptos"/>
              </a:rPr>
              <a:t>MMAT 2018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ptos"/>
              </a:rPr>
              <a:t>avaliação por critério
sem nota global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ptos"/>
              </a:rPr>
              <a:t>Instrumento aplicado conforme o desenho metodológico de cada estudo empírico.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143000"/>
            <a:ext cx="3520440" cy="14173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60520" y="114300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5112" y="1234440"/>
            <a:ext cx="3246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ptos"/>
              </a:rPr>
              <a:t>Como foi registrado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5112" y="1581912"/>
            <a:ext cx="324612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Aptos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143000"/>
            <a:ext cx="3429000" cy="141732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143000"/>
            <a:ext cx="8229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1234440"/>
            <a:ext cx="3154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Aptos"/>
              </a:rPr>
              <a:t>Estado atual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1581912"/>
            <a:ext cx="31546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Aptos"/>
              </a:rPr>
              <a:t>Apreciação preliminar por um único revisor: nove registros com texto primário revisado e oito com base em resumo/metadados.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3063240"/>
            <a:ext cx="7315200" cy="141732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0520" y="3063240"/>
            <a:ext cx="8229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5112" y="3154680"/>
            <a:ext cx="70408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D9488"/>
                </a:solidFill>
                <a:latin typeface="Aptos"/>
              </a:rPr>
              <a:t>O que não foi feito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3502152"/>
            <a:ext cx="70408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Aptos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ptos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O que a síntese sustenta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5257800" cy="1417320"/>
          </a:xfrm>
          <a:prstGeom prst="roundRect">
            <a:avLst/>
          </a:prstGeom>
          <a:solidFill>
            <a:srgbClr val="F0FDF4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34440"/>
            <a:ext cx="8229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325880"/>
            <a:ext cx="4983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6A34A"/>
                </a:solidFill>
                <a:latin typeface="Aptos"/>
              </a:rPr>
              <a:t>A síntese sustenta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673352"/>
            <a:ext cx="49834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Aptos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57800" cy="14173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325880"/>
            <a:ext cx="4983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563EB"/>
                </a:solidFill>
                <a:latin typeface="Aptos"/>
              </a:rPr>
              <a:t>A heterogeneidade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673352"/>
            <a:ext cx="49834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Aptos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5257800" cy="141732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337560"/>
            <a:ext cx="8229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429000"/>
            <a:ext cx="4983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D97706"/>
                </a:solidFill>
                <a:latin typeface="Aptos"/>
              </a:rPr>
              <a:t>A síntese não sustenta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776472"/>
            <a:ext cx="49834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Aptos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37560"/>
            <a:ext cx="5257800" cy="141732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337560"/>
            <a:ext cx="8229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429000"/>
            <a:ext cx="4983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7C3AED"/>
                </a:solidFill>
                <a:latin typeface="Aptos"/>
              </a:rPr>
              <a:t>Implicação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3776472"/>
            <a:ext cx="498348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Aptos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ptos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Lacunas documentadas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3337560" cy="141732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4300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234440"/>
            <a:ext cx="3063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Explicabilidade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581912"/>
            <a:ext cx="30632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Pouca clareza sobre como as saídas chegam à interpretação pedagógica.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143000"/>
            <a:ext cx="3337560" cy="141732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143000"/>
            <a:ext cx="8229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234440"/>
            <a:ext cx="3063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Currículo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581912"/>
            <a:ext cx="30632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Alinhamento explícito com referenciais curriculares aparece de forma limitada.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143000"/>
            <a:ext cx="3337560" cy="141732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143000"/>
            <a:ext cx="8229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1" y="1234440"/>
            <a:ext cx="3063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C3AED"/>
                </a:solidFill>
                <a:latin typeface="Aptos"/>
              </a:rPr>
              <a:t>Participação docente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1" y="1581912"/>
            <a:ext cx="30632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Decisões de projeto nem sempre incorporam o professor como intérprete.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971800"/>
            <a:ext cx="3337560" cy="141732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2971800"/>
            <a:ext cx="8229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" y="3063240"/>
            <a:ext cx="3063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Aptos"/>
              </a:rPr>
              <a:t>Equidade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" y="3410712"/>
            <a:ext cx="30632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Análises de possíveis vieses e diferenças entre grupos são escassas.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2971800"/>
            <a:ext cx="3337560" cy="1417320"/>
          </a:xfrm>
          <a:prstGeom prst="roundRect">
            <a:avLst/>
          </a:prstGeom>
          <a:solidFill>
            <a:srgbClr val="FFF7ED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971800"/>
            <a:ext cx="8229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9432" y="3063240"/>
            <a:ext cx="3063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A580C"/>
                </a:solidFill>
                <a:latin typeface="Aptos"/>
              </a:rPr>
              <a:t>Reprodutibilidade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3410712"/>
            <a:ext cx="30632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Dados, códigos e detalhes de preparação nem sempre estão disponíveis.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971800"/>
            <a:ext cx="3337560" cy="141732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79" y="2971800"/>
            <a:ext cx="8229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1" y="3063240"/>
            <a:ext cx="3063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F46E5"/>
                </a:solidFill>
                <a:latin typeface="Aptos"/>
              </a:rPr>
              <a:t>Contexto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1" y="3410712"/>
            <a:ext cx="3063240" cy="9144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334155"/>
                </a:solidFill>
                <a:latin typeface="Aptos"/>
              </a:rPr>
              <a:t>Validações permanecem restritas a populações e cenários específicos.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ptos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Da evidência à especificação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74519"/>
            <a:ext cx="2011680" cy="1828800"/>
          </a:xfrm>
          <a:prstGeom prst="roundRect">
            <a:avLst/>
          </a:prstGeom>
          <a:solidFill>
            <a:srgbClr val="EFF6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65959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Aptos"/>
              </a:rPr>
              <a:t>Evidências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313431"/>
            <a:ext cx="173736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ptos"/>
              </a:rPr>
              <a:t>revisão + fundamentação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874519"/>
            <a:ext cx="2011680" cy="1828800"/>
          </a:xfrm>
          <a:prstGeom prst="roundRect">
            <a:avLst/>
          </a:prstGeom>
          <a:solidFill>
            <a:srgbClr val="F0FDFA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874519"/>
            <a:ext cx="8229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1" y="1965959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D9488"/>
                </a:solidFill>
                <a:latin typeface="Aptos"/>
              </a:rPr>
              <a:t>Lacunas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231" y="2313431"/>
            <a:ext cx="173736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ptos"/>
              </a:rPr>
              <a:t>técnicas, pedagógicas, metodológicas e éticas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66359" y="1874519"/>
            <a:ext cx="2011680" cy="1828800"/>
          </a:xfrm>
          <a:prstGeom prst="roundRect">
            <a:avLst/>
          </a:prstGeom>
          <a:solidFill>
            <a:srgbClr val="F5F3FF"/>
          </a:solidFill>
          <a:ln w="15875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874519"/>
            <a:ext cx="8229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30951" y="1965959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7C3AED"/>
                </a:solidFill>
                <a:latin typeface="Aptos"/>
              </a:rPr>
              <a:t>Requisitos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1" y="2313431"/>
            <a:ext cx="173736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ptos"/>
              </a:rPr>
              <a:t>funcionais e não funcionais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79" y="1874519"/>
            <a:ext cx="2011680" cy="182880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79" y="1874519"/>
            <a:ext cx="8229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62671" y="1965959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Aptos"/>
              </a:rPr>
              <a:t>Protocolo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62671" y="2313431"/>
            <a:ext cx="173736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ptos"/>
              </a:rPr>
              <a:t>dados, modelos, métricas e limites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1874519"/>
            <a:ext cx="2011680" cy="1828800"/>
          </a:xfrm>
          <a:prstGeom prst="roundRect">
            <a:avLst/>
          </a:prstGeom>
          <a:solidFill>
            <a:srgbClr val="EEF2FF"/>
          </a:solidFill>
          <a:ln w="1587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29800" y="1874519"/>
            <a:ext cx="8229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94392" y="1965959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F46E5"/>
                </a:solidFill>
                <a:latin typeface="Aptos"/>
              </a:rPr>
              <a:t>Arquitetura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94392" y="2313431"/>
            <a:ext cx="1737360" cy="1325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334155"/>
                </a:solidFill>
                <a:latin typeface="Aptos"/>
              </a:rPr>
              <a:t>referência conceitual auditável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tos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Especificação conceitual do protótipo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pic>
        <p:nvPicPr>
          <p:cNvPr id="6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ptos"/>
              </a:rPr>
              <a:t>Componentes previstos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ptos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ptos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ptos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ptos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ptos"/>
              </a:defRPr>
            </a:pPr>
            <a:r>
              <a:t>• apresentação para interpretação docente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4251960"/>
            <a:ext cx="4572000" cy="123444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720840" y="4251960"/>
            <a:ext cx="8229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85432" y="4343400"/>
            <a:ext cx="4297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Aptos"/>
              </a:rPr>
              <a:t>Limite do artefato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85432" y="4690872"/>
            <a:ext cx="429768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34155"/>
                </a:solidFill>
                <a:latin typeface="Aptos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502920" y="32004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0F172A"/>
                </a:solidFill>
                <a:latin typeface="Aptos"/>
              </a:rPr>
              <a:t>Contribuições e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TCC · Ensino Personalizado de Matemática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49640" y="6510528"/>
            <a:ext cx="3108960" cy="1828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64748B"/>
                </a:solidFill>
                <a:latin typeface="Aptos"/>
              </a:rPr>
              <a:t>IFC · Ciência da Computação ·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43000"/>
            <a:ext cx="5257800" cy="2834640"/>
          </a:xfrm>
          <a:prstGeom prst="roundRect">
            <a:avLst/>
          </a:prstGeom>
          <a:solidFill>
            <a:srgbClr val="F0FDF4"/>
          </a:solidFill>
          <a:ln w="15875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143000"/>
            <a:ext cx="8229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234440"/>
            <a:ext cx="4983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Aptos"/>
              </a:rPr>
              <a:t>Contribuições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581912"/>
            <a:ext cx="49834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Aptos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143000"/>
            <a:ext cx="5257800" cy="2834640"/>
          </a:xfrm>
          <a:prstGeom prst="roundRect">
            <a:avLst/>
          </a:prstGeom>
          <a:solidFill>
            <a:srgbClr val="FFFBEB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143000"/>
            <a:ext cx="8229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234440"/>
            <a:ext cx="4983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Aptos"/>
              </a:rPr>
              <a:t>Limites assumidos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1581912"/>
            <a:ext cx="4983480" cy="23317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34155"/>
                </a:solidFill>
                <a:latin typeface="Aptos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ptos"/>
              </a:rPr>
              <a:t>Conclusão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ptos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ptos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ptos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ptos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ptos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