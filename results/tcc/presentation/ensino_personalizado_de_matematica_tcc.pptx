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206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2412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3619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4825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7238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8444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9651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0857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3270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5683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6889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8096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0508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1715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2921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5334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7747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28953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102412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153619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204825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256032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07238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58444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409651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460857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512064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563270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14476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65683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320040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BEC2C7"/>
                </a:solidFill>
                <a:latin typeface="Cambria Math"/>
              </a:rPr>
              <a:t>∫ f(x) · dx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40280" y="1828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eⁿᵗ − m g(x)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320040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P = {xᵢ} + (xᵢ − x̄)²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960120"/>
            <a:ext cx="21945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A = [ a₁  b₂ ; c₃  d₄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600" y="5349240"/>
            <a:ext cx="21945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R₀ = m eᵞ (μ₂ /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1264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y = (x + 1)ⁿ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55480" y="5440680"/>
            <a:ext cx="19202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EC2C7"/>
                </a:solidFill>
                <a:latin typeface="Cambria Math"/>
              </a:rPr>
              <a:t>n = −√(2x²)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612648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sin(x) = kπ / 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59552" y="256032"/>
            <a:ext cx="118872" cy="118872"/>
          </a:xfrm>
          <a:prstGeom prst="roundRect">
            <a:avLst/>
          </a:prstGeom>
          <a:solidFill>
            <a:srgbClr val="BE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724144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88736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559552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724144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88736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59552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724144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88736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559552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724144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88736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92040" y="932688"/>
            <a:ext cx="2423160" cy="42062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INSTITUTO
FEDERAL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2040" y="1353312"/>
            <a:ext cx="242316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1414"/>
                </a:solidFill>
                <a:latin typeface="Arial"/>
              </a:rPr>
              <a:t>Catarinense</a:t>
            </a:r>
          </a:p>
        </p:txBody>
      </p:sp>
      <p:sp>
        <p:nvSpPr>
          <p:cNvPr id="61" name="tcc-title"/>
          <p:cNvSpPr txBox="1"/>
          <p:nvPr/>
        </p:nvSpPr>
        <p:spPr>
          <a:xfrm>
            <a:off x="594360" y="1828800"/>
            <a:ext cx="11018520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0B566C"/>
                </a:solidFill>
                <a:latin typeface="Arial"/>
              </a:rPr>
              <a:t>Ensino Personalizado de Matemática:
Oportunidades e Técnicas Computacionais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34440" y="3182112"/>
            <a:ext cx="97383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0B566C"/>
                </a:solidFill>
                <a:latin typeface="Arial"/>
              </a:rPr>
              <a:t>Revisão sistemática da literatura e especificação conceitual de protótipo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4069080"/>
            <a:ext cx="48920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141414"/>
                </a:solidFill>
                <a:latin typeface="Arial"/>
              </a:rPr>
              <a:t>Thales Ferreira Batista
Ciência da Computação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892040"/>
            <a:ext cx="61722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141414"/>
                </a:solidFill>
                <a:latin typeface="Arial"/>
              </a:rPr>
              <a:t>Orientador: Prof. Dr. Rafael Zanin
Coorientador: Prof. Dr. Manassés Ribeiro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5806440"/>
            <a:ext cx="809244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373737"/>
                </a:solidFill>
                <a:latin typeface="Arial"/>
              </a:rPr>
              <a:t>Instituto Federal Catarinense — Campus Videira
Snapshot adjudicado: 03/09/2026 · recorte temporal: 2015–2026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8356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0F172A"/>
                </a:solidFill>
                <a:latin typeface="Arial"/>
              </a:rPr>
              <a:t>Turmas heterogêneas produzem muitas evidências, mas a evidência só se torna útil quando é interpretada no contexto pedagógico.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59436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Conhecimentos prévios, ritmos e dificuldades variam entre estudantes e ao longo do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2011680"/>
            <a:ext cx="59436" cy="1554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Oportunidade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Técnicas computacionais podem organizar registros, revelar padrões e apoiar o acompanhamento.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2011680"/>
            <a:ext cx="59436" cy="1554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Responsabilidade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 saída computacional não substitui a avaliação do professor nem representa, sozinha, a aprendizagem.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572000"/>
            <a:ext cx="1005840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334155"/>
                </a:solidFill>
                <a:latin typeface="Arial"/>
              </a:rPr>
              <a:t>O trabalho investiga como a literatura articula técnicas, evidências educacionais e decisões de personalização — e transforma esse conhecimento em uma especificação auditável.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Questão e objetivo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65836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6309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Problema de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630936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Como identificar e sintetizar, por meio de revisão sistemática, as principais técnicas computacionais aplicadas ao ensino de matemática e converter essas evidências em uma especificação de protótipo que apoie o professor?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3800" y="1143000"/>
            <a:ext cx="39319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143000"/>
            <a:ext cx="59436" cy="1920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0" y="1197864"/>
            <a:ext cx="3657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Objetivo geral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1600200"/>
            <a:ext cx="365760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Mapear e analisar sistematicamente as aplicações e elaborar uma especificação técnica e pedagógica para apoiar a interpretação de evidências sobre competências.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94760"/>
            <a:ext cx="3840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Perguntas orientadoras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160520"/>
            <a:ext cx="10241280" cy="141732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técnicas são aplicadas à educação matemática?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Como essas aplicações são avaliadas nos contextos estudados?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lacunas e limitações aparecem na literatura?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Que requisitos podem orientar uma ferramenta de apoio?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Objetivos específicos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51663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OE1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892040" cy="3474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Revisão sistemática, relatada com apoio do PRISMA 2020, sobre estudos de 2015–2026.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86000"/>
            <a:ext cx="51663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286000"/>
            <a:ext cx="59436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4086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OE2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43200"/>
            <a:ext cx="4892040" cy="3474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Identificação e categorização das abordagens computacionais.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29000"/>
            <a:ext cx="51663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429000"/>
            <a:ext cx="59436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48386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OE3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886200"/>
            <a:ext cx="4892040" cy="3474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Classificação das finalidades pedagógicas das aplicações.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572000"/>
            <a:ext cx="51663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572000"/>
            <a:ext cx="59436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62686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OE4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29200"/>
            <a:ext cx="4892040" cy="3474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Análise crítica das metodologias e limitações dos estudos.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1143000"/>
            <a:ext cx="51663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1143000"/>
            <a:ext cx="5943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19786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OE5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600200"/>
            <a:ext cx="489204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Mapeamento de lacunas técnicas, pedagógicas, metodológicas e éticas.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560320"/>
            <a:ext cx="51663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560320"/>
            <a:ext cx="5943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261518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OE6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017520"/>
            <a:ext cx="489204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Manutenção de um pipeline automatizado e auditável para coleta, processamento e exportação.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977639"/>
            <a:ext cx="51663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3977639"/>
            <a:ext cx="5943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032503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OE7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434839"/>
            <a:ext cx="489204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Derivação de requisitos, critérios de dados e modelos, protocolo de avaliação e arquitetura de referência.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897880"/>
            <a:ext cx="102870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A apresentação distingue objetivos executados de atividades que permanecem fora do escopo, como implementação funcional e validação com participantes.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 base conceitual: quatro níveis de interpretação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A revisão pode reconhecer padrões; ela não observa diretamente todos os processos cognitivos e sociais envolvidos na aprendizagem.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4519"/>
            <a:ext cx="59436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Desempenho
observado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Registro de uma tarefa: acerto, nota, tentativa, estratégia ou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11296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11296" y="1874519"/>
            <a:ext cx="59436" cy="2057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94176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Proficiência
estimada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Inferência sobre uma escala de conhecimentos e habilidades.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4224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64224" y="1874519"/>
            <a:ext cx="59436" cy="2057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4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Competência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Mobilização integrada de conhecimentos, procedimentos, estratégias e atitudes.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17152" y="1874519"/>
            <a:ext cx="59436" cy="2057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0032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Aprendizagem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Transformação construída ao longo do tempo, com compreensão, autonomia e transferência.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572000"/>
            <a:ext cx="941832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0200" y="4800600"/>
            <a:ext cx="89611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Princípio de interpretação: a saída computacional apoia a análise docente; não constitui diagnóstico definitivo.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Desenho metodológico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097280"/>
            <a:ext cx="59436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PRISMA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Diretriz de relato transparente da revisão.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8192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81928" y="1097280"/>
            <a:ext cx="59436" cy="960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PICOS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População, intervenção, comparação, resultados e desenho.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331720"/>
            <a:ext cx="59436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4 fontes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Semantic Scholar, OpenAlex, Crossref e CORE.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192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2331720"/>
            <a:ext cx="59436" cy="960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Escopo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Inglês/português · 2015–2026 · corte em 31/08/2026.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069080"/>
            <a:ext cx="10789920" cy="12344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97680"/>
            <a:ext cx="2286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Estratégia canônica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17720"/>
            <a:ext cx="9966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Arial"/>
              </a:rPr>
              <a:t>72 consultas compostas (48 em inglês + 24 em português), combinando domínio matemático, técnica computacional e contexto educacional.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02352"/>
            <a:ext cx="99669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O número descreve a composição versionada da estratégia; não é uma contagem retrospectiva de chamadas HTTP concluídas, pois não há log histórico completo.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Do registro bruto à população retida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4572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Contagens do snapshot adjudicado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63040"/>
            <a:ext cx="182880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11.904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identificados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360" y="1463040"/>
            <a:ext cx="182880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remoções por identidade
25 DOI + 2 URL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74920" y="1463040"/>
            <a:ext cx="1828800" cy="502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11.877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na triagem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8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69480" y="1463040"/>
            <a:ext cx="182880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9.391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na triagem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83080" y="3794760"/>
            <a:ext cx="1828800" cy="50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08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2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na elegibilidade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77639" y="3794760"/>
            <a:ext cx="182880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39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79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na elegibilidade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794760"/>
            <a:ext cx="182880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retidos operacionalmente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669280"/>
            <a:ext cx="100584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A remoção determinística por DOI/URL precede a triagem. Igualdade de título permaneceu como candidato à auditoria semântica.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Fluxo PRISMA do snapshot</a:t>
            </a:r>
          </a:p>
        </p:txBody>
      </p:sp>
      <p:pic>
        <p:nvPicPr>
          <p:cNvPr id="3" name="prisma_flow.png" descr="prism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571" y="960120"/>
            <a:ext cx="7488097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172200"/>
            <a:ext cx="102870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Figura versionada e sincronizada com os artefatos públicos do pipeline.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Deduplicação: o que foi confirmado</a:t>
            </a:r>
          </a:p>
        </p:txBody>
      </p:sp>
      <p:pic>
        <p:nvPicPr>
          <p:cNvPr id="3" name="selection_funnel.png" descr="selection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9878"/>
            <a:ext cx="5623560" cy="374112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537960" y="123444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37960" y="1234440"/>
            <a:ext cx="5943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128930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Confirmadas no fluxo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69164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27 linhas excedentes por identidade bibliográfica determinística: 25 DOI normalizado e 2 URL exata.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269748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2697480"/>
            <a:ext cx="59436" cy="1143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75234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Mantidas para auditoria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15468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232 excedentes apenas por título normalizado permaneceram como candidatos a revisão semântica.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4160520"/>
            <a:ext cx="47548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4160520"/>
            <a:ext cx="59436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1538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Leitura científica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617720"/>
            <a:ext cx="448056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Títulos semelhantes podem ser versões, erratas ou obras distintas. Por isso, não foram tratados automaticamente como duplicatas confirmadas.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Panorama descritivo do snapshot</a:t>
            </a:r>
          </a:p>
        </p:txBody>
      </p:sp>
      <p:pic>
        <p:nvPicPr>
          <p:cNvPr id="3" name="techniques_distribution.png" descr="technique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14" y="1188720"/>
            <a:ext cx="7095612" cy="4709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234440"/>
            <a:ext cx="3200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172A"/>
                </a:solidFill>
                <a:latin typeface="Arial"/>
              </a:rPr>
              <a:t>Frequências mais recorrentes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69164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691640"/>
            <a:ext cx="301752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81051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6.399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31343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técnica não especificada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69748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2697480"/>
            <a:ext cx="301752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1635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1.073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31927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assessment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70332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3703320"/>
            <a:ext cx="30175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382219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863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32511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IA / inteligência artificial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70916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709160"/>
            <a:ext cx="3017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482803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771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33095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machine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As categorias podem se sobrepor e são calculadas sobre os 11.877 registros após a remoção determinística. Não representam qualidade ou eficácia.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Distribuição temporal e fontes</a:t>
            </a:r>
          </a:p>
        </p:txBody>
      </p:sp>
      <p:pic>
        <p:nvPicPr>
          <p:cNvPr id="3" name="papers_by_year.png" descr="paper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93434"/>
            <a:ext cx="5486400" cy="2168012"/>
          </a:xfrm>
          <a:prstGeom prst="rect">
            <a:avLst/>
          </a:prstGeom>
        </p:spPr>
      </p:pic>
      <p:pic>
        <p:nvPicPr>
          <p:cNvPr id="4" name="database_coverage.png" descr="database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30414"/>
            <a:ext cx="5486400" cy="22940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3977639"/>
            <a:ext cx="51663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977639"/>
            <a:ext cx="59436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032503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Período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34839"/>
            <a:ext cx="489204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O snapshot foi delimitado a 2015–2026, com data de corte em 31 de agosto de 2026.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977639"/>
            <a:ext cx="5074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3977639"/>
            <a:ext cx="59436" cy="1051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4032503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Fontes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434839"/>
            <a:ext cx="480060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As quatro fontes foram complementares; os totais brutos incluem registros posteriormente reconhecidos como duplicatas.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06440"/>
            <a:ext cx="10241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Visualizações descritivas: não inferem representatividade, qualidade ou efeito pedagógico.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População retida e síntese empírica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34440"/>
            <a:ext cx="292608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retidos operacionalmente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234440"/>
            <a:ext cx="292608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candidatos empíricos provisórios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7532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234440"/>
            <a:ext cx="292608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protocolo ou proposta contextual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063240"/>
            <a:ext cx="59436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 que entra na síntese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A síntese de evidências e a apreciação MMAT aplicável consideram os 17 candidatos empíricos. O protocolo/proposta contextual foi mantido para rastreabilidade do mapeamento, mas não sustenta resultado empírico concluído.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063240"/>
            <a:ext cx="59436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Padrão observado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Predomínio de aplicações voltadas à predição de desempenho e à estimativa de proficiência, com recorrência de modelos supervisionados como Random Forest, SVM, árvores de decisão e redes neurais.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64748B"/>
                </a:solidFill>
                <a:latin typeface="Arial"/>
              </a:rPr>
              <a:t>Os resultados de artigos individuais permanecem condicionados à população, ao instrumento, à métrica e ao desenho de cada estudo.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Apreciação metodológica pelo MMAT 2018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43000"/>
            <a:ext cx="2926080" cy="4160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MMAT 2018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2468880" cy="7772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BAE6FD"/>
                </a:solidFill>
                <a:latin typeface="Arial"/>
              </a:rPr>
              <a:t>avaliação por critério
sem nota global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2377440" cy="685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E2E8F0"/>
                </a:solidFill>
                <a:latin typeface="Arial"/>
              </a:rPr>
              <a:t>Instrumento aplicado conforme o desenho metodológico de cada estudo empírico.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43000"/>
            <a:ext cx="35204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0520" y="114300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197864"/>
            <a:ext cx="32461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Como foi registrado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600200"/>
            <a:ext cx="324612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Cinco critérios por desenho, com respostas Sim, Não ou Não é possível determinar. As limitações permanecem visíveis por estudo.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143000"/>
            <a:ext cx="34290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14300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19786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Estado atual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600200"/>
            <a:ext cx="31546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Apreciação preliminar por um único revisor: nove registros com texto primário revisado e oito com base em resumo/metadados.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3063240"/>
            <a:ext cx="73152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0520" y="3063240"/>
            <a:ext cx="5943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3118104"/>
            <a:ext cx="70408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 que não foi feito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520440"/>
            <a:ext cx="70408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há média, ranking ou categoria agregada de qualidade. A adjudicação, os localizadores e a recuperação de fontes ainda precisam ser consolidados.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O MMAT organiza a leitura das limitações; não transforma uma apreciação preliminar em classificação definitiva.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que a síntese sustenta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59436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sustenta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 literatura oferece um mapa auditável de técnicas, finalidades e formas de avaliação aplicadas à educação matemática.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heterogeneidade importa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Populações, instrumentos, variáveis e métricas diferentes impedem comparar diretamente todos os resultados ou combiná-los em uma síntese quantitativa.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não sustenta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Uma técnica não pode ser declarada superior em geral, nem uma acurácia de um estudo ser transferida automaticamente para outra escola ou população.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37560"/>
            <a:ext cx="5943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Implicação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Avaliação técnica, explicabilidade, contexto curricular e interpretação docente precisam acompanhar qualquer uso futuro.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Desempenho reportado em um artigo não equivale a evidência geral de eficácia pedagógica.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Lacunas documentadas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Explicabilidade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Pouca clareza sobre como as saídas chegam à interpretação pedagógica.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1430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34840" y="1143000"/>
            <a:ext cx="5943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1978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Currículo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6002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Alinhamento explícito com referenciais curriculares aparece de forma limitada.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11430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83879" y="1143000"/>
            <a:ext cx="5943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59" y="11978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Participação docente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59" y="16002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Decisões de projeto nem sempre incorporam o professor como intérprete.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9718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297180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266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Equidade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4290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Análises de possíveis vieses e diferenças entre grupos são escassas.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29718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34840" y="2971800"/>
            <a:ext cx="59436" cy="14173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30266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Reprodutibilidade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34290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Dados, códigos e detalhes de preparação nem sempre estão disponíveis.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79" y="29718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3879" y="2971800"/>
            <a:ext cx="59436" cy="1417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59" y="30266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Contexto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59" y="34290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Validações permanecem restritas a populações e cenários específicos.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Essas lacunas foram tratadas como requisitos de projeto — não como prova de que uma solução futura será eficaz.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Da evidência à especificação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874519"/>
            <a:ext cx="59436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Evidências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revisão + fundamentação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203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3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39" y="1874519"/>
            <a:ext cx="59436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1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Lacunas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1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técnicas, pedagógicas, metodológicas e éticas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5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66359" y="1874519"/>
            <a:ext cx="59436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3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Requisitos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3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funcionais e não funcionais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1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79" y="1874519"/>
            <a:ext cx="59436" cy="1828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5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Protocolo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dados, modelos, métricas e limites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980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29800" y="1874519"/>
            <a:ext cx="59436" cy="1828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Arquitetura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referência conceitual auditável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34440" y="4617720"/>
            <a:ext cx="964692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08760" y="4846320"/>
            <a:ext cx="9098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O resultado é uma especificação conceitual: documentada, verificável e coerente com o escopo executado.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Especificação conceitual do protótipo</a:t>
            </a:r>
          </a:p>
        </p:txBody>
      </p:sp>
      <p:pic>
        <p:nvPicPr>
          <p:cNvPr id="3" name="arquitetura_prototipo.png" descr="arquitetura_prototi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04540"/>
            <a:ext cx="5806440" cy="4677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20840" y="1143000"/>
            <a:ext cx="4023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Componentes previstos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1600200"/>
            <a:ext cx="4572000" cy="224028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ingestão e validação das fontes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preparação e documentação das variáveis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modelagem e comparação de alternativas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avaliação, explicabilidade e análise de erros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apresentação para interpretação docente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720840" y="4251960"/>
            <a:ext cx="457200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0840" y="4251960"/>
            <a:ext cx="59436" cy="1234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4306824"/>
            <a:ext cx="4297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Limite do artefato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4709160"/>
            <a:ext cx="429768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é uma aplicação funcional: não houve treinamento com uma base definitiva, métricas próprias ou validação com participantes.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Contribuições e limites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59436" cy="2834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Contribuições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síntese estruturada da literatura
• pipeline automatizado e versionado
• separação entre relevância e avaliação metodológica
• especificação técnica e pedagógica auditável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143000"/>
            <a:ext cx="59436" cy="2834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Limites assumidos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um único pesquisador
• parte da apreciação baseada em resumo/metadados
• fontes e idiomas delimitados
• MMAT preliminar
• sem aplicação funcional ou eficácia pedagógica própria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828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Conclusão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46988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34155"/>
                </a:solidFill>
                <a:latin typeface="Arial"/>
              </a:rPr>
              <a:t>O trabalho respondeu ao escopo ao articular revisão sistemática, fundamentação pedagógica, apreciação metodológica e especificação conceitual — mantendo o professor no centro da interpretação.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640080" y="1600200"/>
            <a:ext cx="108813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0">
                <a:solidFill>
                  <a:srgbClr val="BAE6FD"/>
                </a:solidFill>
                <a:latin typeface="Arial"/>
              </a:rPr>
              <a:t>Perguntas e discussão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669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Ensino Personalizado de Matemática
Oportunidades e Técnicas Computacionais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996696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E2E8F0"/>
                </a:solidFill>
                <a:latin typeface="Arial"/>
              </a:rPr>
              <a:t>Thales Ferreira Batista · Ciência da Computação · IFC Videira
Snapshot adjudicado: 03/09/2026 · recorte temporal: 2015–2026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Ensino Personalizado de Matemática — Apresentação do TCC</dc:title>
  <dc:subject>Revisão sistemática da literatura e especificação conceitual de protótipo</dc:subject>
  <dc:creator>Thales Ferreira Batista</dc:creator>
  <cp:keywords/>
  <dc:description>Gerado por scripts/generate_tcc_presentation.py a partir dos artefatos versionados do TCC.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