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4128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36192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48256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72384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84448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96512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8576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32704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56832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68896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05088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17152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29216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0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53344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265408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777472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289536" y="0"/>
            <a:ext cx="7315" cy="6858000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12064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1024128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1536192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2048256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2560320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3072384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584448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096512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608576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20640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632704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144768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12191695" cy="7315"/>
          </a:xfrm>
          <a:prstGeom prst="rect">
            <a:avLst/>
          </a:prstGeom>
          <a:solidFill>
            <a:srgbClr val="E1E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20040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BEC2C7"/>
                </a:solidFill>
                <a:latin typeface="Cambria Math"/>
              </a:rPr>
              <a:t>∫ f(x) · dx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182880"/>
            <a:ext cx="1645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EC2C7"/>
                </a:solidFill>
                <a:latin typeface="Cambria Math"/>
              </a:rPr>
              <a:t>eⁿᵗ − m g(x)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20040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BEC2C7"/>
                </a:solidFill>
                <a:latin typeface="Cambria Math"/>
              </a:rPr>
              <a:t>P = {xᵢ} + (xᵢ − x̄)²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960120"/>
            <a:ext cx="21945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EC2C7"/>
                </a:solidFill>
                <a:latin typeface="Cambria Math"/>
              </a:rPr>
              <a:t>A = [ a₁  b₂ ; c₃  d₄ 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" y="5349240"/>
            <a:ext cx="2194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EC2C7"/>
                </a:solidFill>
                <a:latin typeface="Cambria Math"/>
              </a:rPr>
              <a:t>R₀ = m eᵞ (μ₂ /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6126480"/>
            <a:ext cx="1645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EC2C7"/>
                </a:solidFill>
                <a:latin typeface="Cambria Math"/>
              </a:rPr>
              <a:t>y = (x + 1)ⁿ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5440680"/>
            <a:ext cx="1920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EC2C7"/>
                </a:solidFill>
                <a:latin typeface="Cambria Math"/>
              </a:rPr>
              <a:t>n = −√(2x²)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612648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EC2C7"/>
                </a:solidFill>
                <a:latin typeface="Cambria Math"/>
              </a:rPr>
              <a:t>sin(x) = kπ / 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59552" y="256032"/>
            <a:ext cx="118872" cy="118872"/>
          </a:xfrm>
          <a:prstGeom prst="round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24144" y="256032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88736" y="256032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559552" y="420624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724144" y="420624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888736" y="420624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59552" y="585216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724144" y="585216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88736" y="585216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559552" y="749808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724144" y="749808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88736" y="749808"/>
            <a:ext cx="118872" cy="118872"/>
          </a:xfrm>
          <a:prstGeom prst="roundRect">
            <a:avLst/>
          </a:prstGeom>
          <a:solidFill>
            <a:srgbClr val="2C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92040" y="932688"/>
            <a:ext cx="242316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INSTITUTO
FEDERAL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2040" y="1353312"/>
            <a:ext cx="242316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Arial"/>
              </a:rPr>
              <a:t>Catarinense</a:t>
            </a:r>
          </a:p>
        </p:txBody>
      </p:sp>
      <p:sp>
        <p:nvSpPr>
          <p:cNvPr id="61" name="tcc-title"/>
          <p:cNvSpPr txBox="1"/>
          <p:nvPr/>
        </p:nvSpPr>
        <p:spPr>
          <a:xfrm>
            <a:off x="594360" y="1828800"/>
            <a:ext cx="1101852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0B566C"/>
                </a:solidFill>
                <a:latin typeface="Arial"/>
              </a:rPr>
              <a:t>Ensino Personalizado de Matemática:
Oportunidades e Técnicas Computacionais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34440" y="3182112"/>
            <a:ext cx="97383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0B566C"/>
                </a:solidFill>
                <a:latin typeface="Arial"/>
              </a:rPr>
              <a:t>Revisão sistemática da literatura e especificação conceitual de protótipo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4069080"/>
            <a:ext cx="4892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41414"/>
                </a:solidFill>
                <a:latin typeface="Arial"/>
              </a:rPr>
              <a:t>Thales Ferreira Batista
Ciência da Computação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17520" y="4892040"/>
            <a:ext cx="61722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41414"/>
                </a:solidFill>
                <a:latin typeface="Arial"/>
              </a:rPr>
              <a:t>Orientador: Prof. Dr. Rafael Zanin
Coorientador: Prof. Dr. Manassés Ribeiro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5806440"/>
            <a:ext cx="80924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373737"/>
                </a:solidFill>
                <a:latin typeface="Arial"/>
              </a:rPr>
              <a:t>Instituto Federal Catarinense — Campus Videira
Versão revisada: 15/10/2026 · corte da busca: 31/08/2026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O problema de pesquisa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8356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172A"/>
                </a:solidFill>
                <a:latin typeface="Arial"/>
              </a:rPr>
              <a:t>Turmas heterogêneas produzem muitas evidências, mas a evidência só se torna útil quando é interpretada no contexto pedagógico.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11680"/>
            <a:ext cx="3429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59436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66544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154680" cy="103327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Conhecimentos prévios, ritmos e dificuldades variam entre estudantes e ao longo do tempo.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429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59436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66544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Oportunidade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154680" cy="103327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Técnicas computacionais podem organizar registros, revelar padrões e apoiar o acompanhamento.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011680"/>
            <a:ext cx="3429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011680"/>
            <a:ext cx="59436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66544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Responsabilidade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3154680" cy="103327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A saída computacional não substitui a avaliação do professor nem representa, sozinha, a aprendizagem.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2000"/>
            <a:ext cx="100584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334155"/>
                </a:solidFill>
                <a:latin typeface="Arial"/>
              </a:rPr>
              <a:t>O trabalho investiga como a literatura articula técnicas, evidências educacionais e decisões de personalização — e transforma esse conhecimento em uma especificação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Questão e objetivo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65836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59436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97864"/>
            <a:ext cx="6309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Problema de pesquisa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309360" cy="139903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2323"/>
                </a:solidFill>
                <a:latin typeface="Arial"/>
              </a:rPr>
              <a:t>Como estruturar uma especificação técnica e pedagógica de protótipo para apoiar a interpretação docente da aprendizagem matemática a partir das evidências e técnicas computacionais identificadas na literatura?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1143000"/>
            <a:ext cx="39319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143000"/>
            <a:ext cx="59436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1197864"/>
            <a:ext cx="3657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Objetivo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600200"/>
            <a:ext cx="3657600" cy="139903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2323"/>
                </a:solidFill>
                <a:latin typeface="Arial"/>
              </a:rPr>
              <a:t>Propor uma especificação técnica e pedagógica de protótipo para apoiar a interpretação docente da aprendizagem matemática, fundamentada no mapeamento e na análise da literatura científica.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94760"/>
            <a:ext cx="3840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Perguntas orientadoras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160520"/>
            <a:ext cx="10241280" cy="141732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Quais técnicas são aplicadas à educação matemática?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Como essas aplicações são avaliadas nos contextos estudados?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Quais lacunas e limitações aparecem na literatura?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Que requisitos podem orientar uma ferramenta de apoio?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Objetivos específicos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51663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59436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0744"/>
            <a:ext cx="4892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0F0F"/>
                </a:solidFill>
                <a:latin typeface="Arial"/>
              </a:rPr>
              <a:t>OE1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92040" cy="11247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32323"/>
                </a:solidFill>
                <a:latin typeface="Arial"/>
              </a:rPr>
              <a:t>Categorizar técnicas computacionais e finalidades pedagógicas na literatura mapeada.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337560"/>
            <a:ext cx="51663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337560"/>
            <a:ext cx="59436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92424"/>
            <a:ext cx="4892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0F0F"/>
                </a:solidFill>
                <a:latin typeface="Arial"/>
              </a:rPr>
              <a:t>OE2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4892040" cy="11247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32323"/>
                </a:solidFill>
                <a:latin typeface="Arial"/>
              </a:rPr>
              <a:t>Identificar limitações e lacunas técnicas, pedagógicas, metodológicas e éticas.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25880"/>
            <a:ext cx="51663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59436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80744"/>
            <a:ext cx="4892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0F0F"/>
                </a:solidFill>
                <a:latin typeface="Arial"/>
              </a:rPr>
              <a:t>OE3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4892040" cy="11247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32323"/>
                </a:solidFill>
                <a:latin typeface="Arial"/>
              </a:rPr>
              <a:t>Formular requisitos, critérios de dados e modelos e arquitetura de referência para o protótipo.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337560"/>
            <a:ext cx="51663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337560"/>
            <a:ext cx="59436" cy="1645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92424"/>
            <a:ext cx="4892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0F0F"/>
                </a:solidFill>
                <a:latin typeface="Arial"/>
              </a:rPr>
              <a:t>OE4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4892040" cy="11247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32323"/>
                </a:solidFill>
                <a:latin typeface="Arial"/>
              </a:rPr>
              <a:t>Propor um protocolo para avaliar a viabilidade e a coerência da especificação conceitual; aplicação pendente.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2870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Revisão, MMAT preliminar e pipeline são meios. O protocolo proposto avalia a especificação conceitual; aplicação pendente. Experimento do protótipo é contingência.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A base conceitual: quatro níveis de interpretação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Arial"/>
              </a:rPr>
              <a:t>A revisão pode reconhecer padrões; ela não observa diretamente todos os processos cognitivos e sociais envolvidos na aprendizagem.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874519"/>
            <a:ext cx="2514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59436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29383"/>
            <a:ext cx="2240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Desempenho
observado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19"/>
            <a:ext cx="2240280" cy="15361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Registro de uma tarefa: acerto, nota, tentativa, estratégia ou tempo.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296" y="1874519"/>
            <a:ext cx="2514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11296" y="1874519"/>
            <a:ext cx="59436" cy="20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1929383"/>
            <a:ext cx="2240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Proficiência
estimada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2331719"/>
            <a:ext cx="2240280" cy="15361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Inferência sobre uma escala de conhecimentos e habilidades.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874519"/>
            <a:ext cx="2514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1874519"/>
            <a:ext cx="59436" cy="2057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1929383"/>
            <a:ext cx="2240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Competência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331719"/>
            <a:ext cx="2240280" cy="15361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Mobilização de conhecimentos, habilidades, atitudes e valores para resolver demandas.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7152" y="1874519"/>
            <a:ext cx="251460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17152" y="1874519"/>
            <a:ext cx="59436" cy="2057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1929383"/>
            <a:ext cx="2240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Aprendizagem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331719"/>
            <a:ext cx="2240280" cy="15361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Neste TCC: mudanças no que o estudante sabe e consegue fazer ao longo do tempo.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572000"/>
            <a:ext cx="941832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800600"/>
            <a:ext cx="89611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Princípio de interpretação: a saída computacional apoia a análise docente; não constitui diagnóstico definitivo.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Desenho metodológico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50749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97280"/>
            <a:ext cx="59436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152144"/>
            <a:ext cx="4800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PRISMA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4800600" cy="4389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Diretriz de relato transparente da revisão.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1928" y="1097280"/>
            <a:ext cx="50749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1928" y="1097280"/>
            <a:ext cx="59436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152144"/>
            <a:ext cx="4800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PICOS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554480"/>
            <a:ext cx="4800600" cy="4389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População, intervenção, comparação, resultados e desenho.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31720"/>
            <a:ext cx="50749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331720"/>
            <a:ext cx="59436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86584"/>
            <a:ext cx="4800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4 fontes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788920"/>
            <a:ext cx="4800600" cy="4389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Semantic Scholar, OpenAlex, Crossref e 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2331720"/>
            <a:ext cx="50749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2331720"/>
            <a:ext cx="59436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386584"/>
            <a:ext cx="4800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Escopo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788920"/>
            <a:ext cx="4800600" cy="4389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Inglês/português · 2015–2026 · corte em 31/08/2026.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69080"/>
            <a:ext cx="10789920" cy="12344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2286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Arial"/>
              </a:rPr>
              <a:t>Estratégia canônica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99669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334155"/>
                </a:solidFill>
                <a:latin typeface="Arial"/>
              </a:rPr>
              <a:t>72 consultas compostas (48 em inglês + 24 em português), combinando domínio matemático, técnica computacional e contexto educacional.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02352"/>
            <a:ext cx="9966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O número descreve a composição versionada da estratégia; não é uma contagem retrospectiva de chamadas HTTP concluídas, pois não há log histórico completo.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Do registro bruto ao conjunto retido provisoriamente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Contagens do recorte versionado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18288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8191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0F0F"/>
                </a:solidFill>
                <a:latin typeface="Arial"/>
              </a:rPr>
              <a:t>11.904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164592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registros identificados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4630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1463040"/>
            <a:ext cx="182880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58191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0F0F"/>
                </a:solidFill>
                <a:latin typeface="Arial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84832"/>
            <a:ext cx="164592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remoções por identidade
25 DOI + 2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4630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1463040"/>
            <a:ext cx="1828800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58191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0F0F"/>
                </a:solidFill>
                <a:latin typeface="Arial"/>
              </a:rPr>
              <a:t>11.877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084832"/>
            <a:ext cx="164592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registros na triagem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146304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463040"/>
            <a:ext cx="1828800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58191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0F0F"/>
                </a:solidFill>
                <a:latin typeface="Arial"/>
              </a:rPr>
              <a:t>9.391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084832"/>
            <a:ext cx="164592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excluídos na triagem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83080" y="379476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83080" y="3794760"/>
            <a:ext cx="1828800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391363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0F0F"/>
                </a:solidFill>
                <a:latin typeface="Arial"/>
              </a:rPr>
              <a:t>2.486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416552"/>
            <a:ext cx="164592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submetidos à priorização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379476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77639" y="3794760"/>
            <a:ext cx="182880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391363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0F0F"/>
                </a:solidFill>
                <a:latin typeface="Arial"/>
              </a:rPr>
              <a:t>2.468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79" y="4416552"/>
            <a:ext cx="164592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excluídos nessa etapa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794760"/>
            <a:ext cx="1828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3794760"/>
            <a:ext cx="182880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3913632"/>
            <a:ext cx="182880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F0F0F"/>
                </a:solidFill>
                <a:latin typeface="Arial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416552"/>
            <a:ext cx="164592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retidos operacionalmente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2356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A priorização dos 2.486 registros usa metadados/resumos e não equivale à elegibilidade em texto completo; títulos repetidos seguem para auditoria semântica.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Fluxo operacional do processo de seleção</a:t>
            </a:r>
          </a:p>
        </p:txBody>
      </p:sp>
      <p:pic>
        <p:nvPicPr>
          <p:cNvPr id="3" name="prisma_flow.png" descr="prism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660" y="960120"/>
            <a:ext cx="926592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172200"/>
            <a:ext cx="10287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Representação operacional própria; não reproduz todas as etapas do diagrama PRISMA 2020.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Deduplicação: o que foi confirmado</a:t>
            </a:r>
          </a:p>
        </p:txBody>
      </p:sp>
      <p:pic>
        <p:nvPicPr>
          <p:cNvPr id="3" name="selection_funnel.png" descr="selection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0666"/>
            <a:ext cx="5623560" cy="37395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37960" y="1234440"/>
            <a:ext cx="47548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37960" y="1234440"/>
            <a:ext cx="59436" cy="1143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289304"/>
            <a:ext cx="4480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Confirmadas no fluxo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691640"/>
            <a:ext cx="4480560" cy="6217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Arial"/>
              </a:rPr>
              <a:t>27 linhas excedentes por identidade bibliográfica determinística: 25 DOI normalizado e 2 URL exata.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2697480"/>
            <a:ext cx="47548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2697480"/>
            <a:ext cx="59436" cy="1143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752344"/>
            <a:ext cx="4480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Mantidas para auditoria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154680"/>
            <a:ext cx="4480560" cy="6217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Arial"/>
              </a:rPr>
              <a:t>232 excedentes apenas por título normalizado permaneceram como candidatos a revisão semântica.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4160520"/>
            <a:ext cx="47548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4160520"/>
            <a:ext cx="59436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4215384"/>
            <a:ext cx="4480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Leitura científica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617720"/>
            <a:ext cx="4480560" cy="71323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Títulos semelhantes podem ser versões, erratas ou obras distintas. Por isso, não foram tratados automaticamente como duplicatas confirmadas.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Panorama descritivo do recorte versionado</a:t>
            </a:r>
          </a:p>
        </p:txBody>
      </p:sp>
      <p:pic>
        <p:nvPicPr>
          <p:cNvPr id="3" name="techniques_distribution.png" descr="techniqu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14" y="1188720"/>
            <a:ext cx="7095612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234440"/>
            <a:ext cx="3200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Frequências mais recorrentes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691640"/>
            <a:ext cx="3017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38160" y="1691640"/>
            <a:ext cx="301752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810512"/>
            <a:ext cx="3017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F0F0F"/>
                </a:solidFill>
                <a:latin typeface="Arial"/>
              </a:rPr>
              <a:t>6.399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13432"/>
            <a:ext cx="2834640" cy="2103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técnica não especificada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697480"/>
            <a:ext cx="3017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2697480"/>
            <a:ext cx="301752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16352"/>
            <a:ext cx="3017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F0F0F"/>
                </a:solidFill>
                <a:latin typeface="Arial"/>
              </a:rPr>
              <a:t>1.073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19272"/>
            <a:ext cx="2834640" cy="2103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assessment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703320"/>
            <a:ext cx="3017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703320"/>
            <a:ext cx="3017520" cy="502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822192"/>
            <a:ext cx="3017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F0F0F"/>
                </a:solidFill>
                <a:latin typeface="Arial"/>
              </a:rPr>
              <a:t>863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325112"/>
            <a:ext cx="2834640" cy="2103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IA / inteligência artificial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709160"/>
            <a:ext cx="3017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709160"/>
            <a:ext cx="3017520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828032"/>
            <a:ext cx="30175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F0F0F"/>
                </a:solidFill>
                <a:latin typeface="Arial"/>
              </a:rPr>
              <a:t>771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330952"/>
            <a:ext cx="2834640" cy="2103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32323"/>
                </a:solidFill>
                <a:latin typeface="Arial"/>
              </a:rPr>
              <a:t>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As categorias podem se sobrepor e são calculadas sobre os 11.877 registros após a remoção determinística. Não representam qualidade ou eficácia.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Distribuição temporal e fontes</a:t>
            </a:r>
          </a:p>
        </p:txBody>
      </p:sp>
      <p:pic>
        <p:nvPicPr>
          <p:cNvPr id="3" name="papers_by_year.png" descr="paper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76227"/>
            <a:ext cx="5486400" cy="2202425"/>
          </a:xfrm>
          <a:prstGeom prst="rect">
            <a:avLst/>
          </a:prstGeom>
        </p:spPr>
      </p:pic>
      <p:pic>
        <p:nvPicPr>
          <p:cNvPr id="4" name="database_coverage.png" descr="database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460" y="1143000"/>
            <a:ext cx="3455879" cy="2468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77240" y="3977639"/>
            <a:ext cx="51663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977639"/>
            <a:ext cx="59436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032503"/>
            <a:ext cx="4892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Período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434839"/>
            <a:ext cx="4892040" cy="53035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O recorte foi delimitado a 2015–2026, com data de corte em 31 de agosto de 2026. Como 2026 é parcial, sua barra não deve ser comparada diretamente com anos completos.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3977639"/>
            <a:ext cx="5074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3977639"/>
            <a:ext cx="59436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032503"/>
            <a:ext cx="48006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Fontes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434839"/>
            <a:ext cx="4800600" cy="53035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232323"/>
                </a:solidFill>
                <a:latin typeface="Arial"/>
              </a:rPr>
              <a:t>As quatro fontes foram complementares; os totais brutos incluem registros posteriormente reconhecidos como duplicatas.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Visualizações descritivas: não inferem representatividade, qualidade ou efeito pedagógico.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Conjunto retido e síntese empírica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34440"/>
            <a:ext cx="29260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292608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29260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0F0F0F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56232"/>
            <a:ext cx="2743200" cy="5760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32323"/>
                </a:solidFill>
                <a:latin typeface="Arial"/>
              </a:rPr>
              <a:t>registros retidos operacionalmente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234440"/>
            <a:ext cx="29260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234440"/>
            <a:ext cx="2926080" cy="502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53312"/>
            <a:ext cx="29260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0F0F0F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856232"/>
            <a:ext cx="2743200" cy="5760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32323"/>
                </a:solidFill>
                <a:latin typeface="Arial"/>
              </a:rPr>
              <a:t>registros empíricos mantidos provisoriamente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234440"/>
            <a:ext cx="292608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234440"/>
            <a:ext cx="2926080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53312"/>
            <a:ext cx="292608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0F0F0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856232"/>
            <a:ext cx="2743200" cy="5760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232323"/>
                </a:solidFill>
                <a:latin typeface="Arial"/>
              </a:rPr>
              <a:t>texto integral pendente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63240"/>
            <a:ext cx="51663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063240"/>
            <a:ext cx="59436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18104"/>
            <a:ext cx="4892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Desfecho da seleção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20440"/>
            <a:ext cx="4892040" cy="117043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2323"/>
                </a:solidFill>
                <a:latin typeface="Arial"/>
              </a:rPr>
              <a:t>Dos 18 registros selecionados preliminarmente, um foi excluído após o resumo. Dos 17 relatórios procurados, um não foi recuperado e 16 foram avaliados em texto completo; um protocolo sem resultados concluídos foi excluído após essa avaliação e 15 registros empíricos permanecem provisoriamente no núcleo. Os 15 estudos têm apreciação preliminar, incluindo rotas operacionais explícitas; o relatório não recuperado não recebeu MMAT.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63240"/>
            <a:ext cx="51663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63240"/>
            <a:ext cx="59436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118104"/>
            <a:ext cx="4892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Exemplos observados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520440"/>
            <a:ext cx="4892040" cy="117043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2323"/>
                </a:solidFill>
                <a:latin typeface="Arial"/>
              </a:rPr>
              <a:t>Há classificação e predição de resultados matemáticos, com RF, SVM, árvores e redes neurais entre as alternativas examinadas. Categorias operacionais de desempenho não equivalem automaticamente a níveis de proficiência validados.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Arial"/>
              </a:rPr>
              <a:t>Os resultados de artigos individuais permanecem condicionados à população, ao instrumento, à métrica e ao desenho de cada estudo.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Apreciação metodológica pelo MMAT 2018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2926080" cy="4160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24688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MMAT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246888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BAE6FD"/>
                </a:solidFill>
                <a:latin typeface="Arial"/>
              </a:rPr>
              <a:t>avaliação por critério
sem nota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237744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E2E8F0"/>
                </a:solidFill>
                <a:latin typeface="Arial"/>
              </a:rPr>
              <a:t>Instrumento aplicado conforme o desenho metodológico de cada estudo empírico.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143000"/>
            <a:ext cx="3520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0520" y="1143000"/>
            <a:ext cx="59436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197864"/>
            <a:ext cx="32461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Como foi registrado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600200"/>
            <a:ext cx="3246120" cy="8961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Arial"/>
              </a:rPr>
              <a:t>Cinco critérios por desenho, com respostas Sim, Não ou Não é possível determinar. As limitações permanecem visíveis por estudo.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43000"/>
            <a:ext cx="34290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143000"/>
            <a:ext cx="59436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197864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Estado atual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600200"/>
            <a:ext cx="3154680" cy="8961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15 registros provisórios. S1/S2 e Q1–Q5: 15. Estudos 5/7: categoria 3 operacional; 14: sorteio contraditório; 8: categoria 4 adaptada. Um texto não recuperado, sem MMAT. Conferência humana pendente.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3063240"/>
            <a:ext cx="7315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3063240"/>
            <a:ext cx="59436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118104"/>
            <a:ext cx="70408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O que não foi feito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20440"/>
            <a:ext cx="7040880" cy="8961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Arial"/>
              </a:rPr>
              <a:t>Não há média, ranking ou categoria agregada de qualidade. A adjudicação, os localizadores e a recuperação de fontes ainda precisam ser consolidados.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O MMAT organiza a leitura das limitações; não transforma uma apreciação preliminar em classificação definitiva.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O que a síntese sustenta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5257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9436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9304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A síntese sustenta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83480" cy="8961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Arial"/>
              </a:rPr>
              <a:t>O recorte examinado oferece exemplos auditáveis de técnicas, finalidades e formas de avaliação aplicadas à educação matemática.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34440"/>
            <a:ext cx="5257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9436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9304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A heterogeneidade importa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983480" cy="8961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Arial"/>
              </a:rPr>
              <a:t>Populações, instrumentos, variáveis e métricas diferentes impedem comparar diretamente todos os resultados ou combiná-los em uma síntese quantitativa.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5257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337560"/>
            <a:ext cx="59436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A síntese não sustenta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4983480" cy="8961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Arial"/>
              </a:rPr>
              <a:t>Uma técnica não pode ser declarada superior em geral, nem uma acurácia de um estudo ser transferida automaticamente para outra escola ou população.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37560"/>
            <a:ext cx="52578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337560"/>
            <a:ext cx="59436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92424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F0F0F"/>
                </a:solidFill>
                <a:latin typeface="Arial"/>
              </a:rPr>
              <a:t>Implicação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4983480" cy="89611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Arial"/>
              </a:rPr>
              <a:t>Avaliação técnica, explicabilidade, contexto curricular e interpretação docente precisam acompanhar qualquer uso futuro.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2412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Desempenho reportado em um artigo não equivale a evidência geral de eficácia pedagógica.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Limitações localizadas nos estudos consultados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5257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59436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52144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He et al.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983480" cy="121615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Oito turmas de 45 estudantes são descritas, mas a amostra declarada é n=90; docentes também se distribuem de modo desigual entre condições (pp. 1, 16, 31–35). Isso exige cautela com denominadores e possível confundimento.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257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9436" cy="1737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52144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Villegas-Ch et al.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983480" cy="121615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Os métodos descrevem seis semanas, mas a subanálise de programação reporta resultados na oitava, sem conciliação nos trechos consultados (pp. 14, 22). Não se deve impor duração única à síntese.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063239"/>
            <a:ext cx="5257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063239"/>
            <a:ext cx="59436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18103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Nyantah et al. 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20439"/>
            <a:ext cx="4983480" cy="121615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A alocação é descrita de modo incompatível; há diferença no pré-teste e a intervenção combina animação e jigsaw (pp. 101–105). O resultado não deve ser atribuído à animação isoladamente.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63239"/>
            <a:ext cx="5257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063239"/>
            <a:ext cx="59436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118103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Echeveria et al. (2025)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39"/>
            <a:ext cx="4983480" cy="121615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32323"/>
                </a:solidFill>
                <a:latin typeface="Arial"/>
              </a:rPr>
              <a:t>Oito itens usados para formar categorias também aparecem entre os preditores selecionados (pp. 66, 69–70). A classificação não estabelece diagnóstico independente.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6132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Estes exemplos localizados não estimam a frequência da literatura. Quinze registros permanecem provisoriamente no núcleo; há 15 triagens S1/S2 e 15 apreciações por categoria, com rotas operacionais explicitamente limitadas. Um relatório não recuperado não recebeu MMAT; um registro foi excluído após resumo e um protocolo após texto completo.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Da evidência à especificação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874519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874519"/>
            <a:ext cx="59436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9383"/>
            <a:ext cx="1737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Evidências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19"/>
            <a:ext cx="1737360" cy="13075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2323"/>
                </a:solidFill>
                <a:latin typeface="Arial"/>
              </a:rPr>
              <a:t>revisão + fundamentação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2487168"/>
            <a:ext cx="3474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874519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39" y="1874519"/>
            <a:ext cx="59436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9" y="1929383"/>
            <a:ext cx="1737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Lacunas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19" y="2331719"/>
            <a:ext cx="1737360" cy="13075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2323"/>
                </a:solidFill>
                <a:latin typeface="Arial"/>
              </a:rPr>
              <a:t>técnicas, pedagógicas, metodológicas e éticas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487168"/>
            <a:ext cx="3474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59" y="1874519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59" y="1874519"/>
            <a:ext cx="59436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39" y="1929383"/>
            <a:ext cx="1737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Requisitos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39" y="2331719"/>
            <a:ext cx="1737360" cy="13075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2323"/>
                </a:solidFill>
                <a:latin typeface="Arial"/>
              </a:rPr>
              <a:t>funcionais e não funcionais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1" y="2487168"/>
            <a:ext cx="3474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1874519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1874519"/>
            <a:ext cx="59436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1929383"/>
            <a:ext cx="1737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Protocolo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2331719"/>
            <a:ext cx="1737360" cy="13075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2323"/>
                </a:solidFill>
                <a:latin typeface="Arial"/>
              </a:rPr>
              <a:t>dados, modelos, métricas e limites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2487168"/>
            <a:ext cx="347472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1874519"/>
            <a:ext cx="2011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1874519"/>
            <a:ext cx="59436" cy="1828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1929383"/>
            <a:ext cx="17373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0F0F"/>
                </a:solidFill>
                <a:latin typeface="Arial"/>
              </a:rPr>
              <a:t>Arquitetura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331719"/>
            <a:ext cx="1737360" cy="130759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2323"/>
                </a:solidFill>
                <a:latin typeface="Arial"/>
              </a:rPr>
              <a:t>referência conceitual auditável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4617720"/>
            <a:ext cx="964692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4846320"/>
            <a:ext cx="9098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O resultado é uma especificação conceitual: documentada, verificável e coerente com o escopo executado.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Especificação conceitual do protótipo</a:t>
            </a:r>
          </a:p>
        </p:txBody>
      </p:sp>
      <p:pic>
        <p:nvPicPr>
          <p:cNvPr id="3" name="arquitetura_prototipo.png" descr="arquitetura_prot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04540"/>
            <a:ext cx="5806440" cy="4677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143000"/>
            <a:ext cx="4023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Arial"/>
              </a:rPr>
              <a:t>Componentes previstos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1600200"/>
            <a:ext cx="4572000" cy="2240280"/>
          </a:xfrm>
          <a:prstGeom prst="rect">
            <a:avLst/>
          </a:prstGeom>
          <a:noFill/>
        </p:spPr>
        <p:txBody>
          <a:bodyPr wrap="square" lIns="109728" rIns="73152" tIns="36576" bIns="36576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50">
                <a:solidFill>
                  <a:srgbClr val="334155"/>
                </a:solidFill>
                <a:latin typeface="Arial"/>
              </a:defRPr>
            </a:pPr>
            <a:r>
              <a:t>• ingestão e validação das fontes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50">
                <a:solidFill>
                  <a:srgbClr val="334155"/>
                </a:solidFill>
                <a:latin typeface="Arial"/>
              </a:defRPr>
            </a:pPr>
            <a:r>
              <a:t>• preparação e documentação das variáveis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50">
                <a:solidFill>
                  <a:srgbClr val="334155"/>
                </a:solidFill>
                <a:latin typeface="Arial"/>
              </a:defRPr>
            </a:pPr>
            <a:r>
              <a:t>• modelagem e comparação de alternativas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50">
                <a:solidFill>
                  <a:srgbClr val="334155"/>
                </a:solidFill>
                <a:latin typeface="Arial"/>
              </a:defRPr>
            </a:pPr>
            <a:r>
              <a:t>• avaliação, explicabilidade e análise de erros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50">
                <a:solidFill>
                  <a:srgbClr val="334155"/>
                </a:solidFill>
                <a:latin typeface="Arial"/>
              </a:defRPr>
            </a:pPr>
            <a:r>
              <a:t>• apresentação para interpretação docente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4251960"/>
            <a:ext cx="45720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4251960"/>
            <a:ext cx="59436" cy="1234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4306824"/>
            <a:ext cx="4297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0F0F"/>
                </a:solidFill>
                <a:latin typeface="Arial"/>
              </a:rPr>
              <a:t>Limite do artefato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4709160"/>
            <a:ext cx="4297680" cy="71323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323"/>
                </a:solidFill>
                <a:latin typeface="Arial"/>
              </a:rPr>
              <a:t>Não é uma aplicação funcional: não houve treinamento com uma base definitiva, métricas próprias ou validação com participantes.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cc-title"/>
          <p:cNvSpPr txBox="1"/>
          <p:nvPr/>
        </p:nvSpPr>
        <p:spPr>
          <a:xfrm>
            <a:off x="502920" y="256032"/>
            <a:ext cx="1069848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Arial"/>
              </a:rPr>
              <a:t>Contribuições e limites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52578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59436" cy="2834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97864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0F0F"/>
                </a:solidFill>
                <a:latin typeface="Arial"/>
              </a:rPr>
              <a:t>Contribuições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83480" cy="231343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Arial"/>
              </a:rPr>
              <a:t>• síntese estruturada da literatura
• pipeline automatizado e versionado
• separação entre relevância e avaliação metodológica
• especificação técnica e pedagógica auditável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43000"/>
            <a:ext cx="52578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9436" cy="2834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97864"/>
            <a:ext cx="4983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F0F0F"/>
                </a:solidFill>
                <a:latin typeface="Arial"/>
              </a:rPr>
              <a:t>Limites assumidos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983480" cy="231343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323"/>
                </a:solidFill>
                <a:latin typeface="Arial"/>
              </a:rPr>
              <a:t>• um único pesquisador
• um texto integral pendente, sem MMAT
• fontes e idiomas delimitados
• MMAT: 15 triagens e apreciações; rotas operacionais e conferência humana pendente
• sem aplicação funcional ou eficácia pedagógica própria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Arial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46988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334155"/>
                </a:solidFill>
                <a:latin typeface="Arial"/>
              </a:rPr>
              <a:t>O trabalho respondeu ao escopo ao articular revisão sistemática, fundamentação pedagógica, apreciação metodológica e especificação conceitual — mantendo o professor no centro da interpretação.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cc-title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0">
                <a:solidFill>
                  <a:srgbClr val="BAE6FD"/>
                </a:solidFill>
                <a:latin typeface="Arial"/>
              </a:rPr>
              <a:t>Perguntas e 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Ensino Personalizado de Matemática
Oportunidades e Técnicas Computacionais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99669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Thales Ferreira Batista · Ciência da Computação · IFC Videira
Versão revisada: 15/10/2026 · corte da busca: 31/08/2026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Ensino Personalizado de Matemática — Apresentação do TCC</dc:title>
  <dc:subject>Revisão sistemática da literatura e especificação conceitual de protótipo</dc:subject>
  <dc:creator>Thales Ferreira Batista</dc:creator>
  <cp:keywords/>
  <dc:description>Gerado por scripts/generate_tcc_presentation.py a partir dos artefatos versionados do TCC.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